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icnb35Hp3r0kqS+LZ1XCLEWQxk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Segnalazioni</c:v>
                </c:pt>
              </c:strCache>
            </c:strRef>
          </c:tx>
          <c:spPr>
            <a:solidFill>
              <a:srgbClr val="A50E2B"/>
            </a:solidFill>
            <a:effectLst/>
          </c:spPr>
          <c:invertIfNegative val="0"/>
          <c:dLbls>
            <c:numFmt formatCode="#,##0" sourceLinked="0"/>
            <c:txPr>
              <a:bodyPr/>
              <a:lstStyle/>
              <a:p>
                <a:pPr>
                  <a:defRPr b="1" i="0" strike="noStrike" sz="1400" u="none">
                    <a:solidFill>
                      <a:srgbClr val="15171A"/>
                    </a:solidFill>
                    <a:latin typeface="Arial"/>
                  </a:defRPr>
                </a:pPr>
              </a:p>
            </c:txPr>
            <c:showLegendKey val="0"/>
            <c:showVal val="1"/>
            <c:showCatName val="0"/>
            <c:showSerName val="0"/>
            <c:showPercent val="0"/>
            <c:showBubbleSize val="0"/>
            <c:showLeaderLines val="0"/>
          </c:dLbls>
          <c:cat>
            <c:multiLvlStrRef>
              <c:f>Sheet1!$A$2:$A$6</c:f>
              <c:multiLvlStrCache>
                <c:ptCount val="5"/>
                <c:lvl>
                  <c:pt idx="0">
                    <c:v>Complessità della procedura</c:v>
                  </c:pt>
                  <c:pt idx="1">
                    <c:v>Ricerca delle informazioni</c:v>
                  </c:pt>
                  <c:pt idx="2">
                    <c:v>Accesso (login)</c:v>
                  </c:pt>
                  <c:pt idx="3">
                    <c:v>Tempi e passaggi</c:v>
                  </c:pt>
                  <c:pt idx="4">
                    <c:v>Linguaggio</c:v>
                  </c:pt>
                </c:lvl>
              </c:multiLvlStrCache>
            </c:multiLvlStrRef>
          </c:cat>
          <c:val>
            <c:numRef>
              <c:f>Sheet1!$B$2:$B$6</c:f>
              <c:numCache>
                <c:formatCode>General</c:formatCode>
                <c:ptCount val="5"/>
                <c:pt idx="0">
                  <c:v>155</c:v>
                </c:pt>
                <c:pt idx="1">
                  <c:v>117</c:v>
                </c:pt>
                <c:pt idx="2">
                  <c:v>55</c:v>
                </c:pt>
                <c:pt idx="3">
                  <c:v>47</c:v>
                </c:pt>
                <c:pt idx="4">
                  <c:v>29</c:v>
                </c:pt>
              </c:numCache>
            </c:numRef>
          </c:val>
        </c:ser>
        <c:dLbls>
          <c:numFmt formatCode="#,##0" sourceLinked="0"/>
          <c:txPr>
            <a:bodyPr/>
            <a:lstStyle/>
            <a:p>
              <a:pPr>
                <a:defRPr b="1" i="0" strike="noStrike" sz="1400" u="none">
                  <a:solidFill>
                    <a:srgbClr val="15171A"/>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5171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h1c30e251418f18d3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h1c30e251418f18d3_1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Buongiorno. Siamo il team di Sportello Amico, Track 02, procedura assistita. Abbiamo preso una sola procedura, il pass disabili, e l'abbiamo resa semplice per chi la chiede: prepariamo la domanda insieme, senza fretta.</a:t>
            </a:r>
            <a:endParaRPr/>
          </a:p>
        </p:txBody>
      </p:sp>
      <p:sp>
        <p:nvSpPr>
          <p:cNvPr id="14" name="Google Shape;14;h1c30e251418f18d3_1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Dieci schermate, cinque enti diversi da capire, un mese di attesa e un solo ufficio in tutta la città. E chi lo chiede spesso ha ottant'anni, oppure è una figlia che lo fa per la madre.</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Questo è l'esempio di verbale che il Comune pubblica nel modulo: è solo la pagina cinque di sette. È proprio l'errore più facile da fare, e uno dei motivi per cui le domande tornano indietro incomplete. Le altre regole nascoste: la frase esatta del medico per il rinnovo, le foto dell'iPhone in formato HEIC rifiutate, la scelta della consegna che non si può cambiare, la targa con la piattaforma nazionale.</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Non è un'impressione. Il Comune pubblica i questionari di soddisfazione: sul servizio gemello, il pass sosta residenti, oltre ottomila risposte nel 2024. Le difficoltà più citate sono la complessità della procedura e la ricerca delle informazioni. E per la residenza online di chi arriva dall'estero, la facilità media è tre virgola due su cinque.</a:t>
            </a:r>
            <a:endParaRPr/>
          </a:p>
        </p:txBody>
      </p:sp>
      <p:sp>
        <p:nvSpPr>
          <p:cNvPr id="54" name="Google Shape;5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soluzione usa una metafora che tutti conoscono: uno sportello e una busta. Tre domande, poi i documenti entrano nella busta uno alla volta. Claude legge il documento sanitario e ci mette un timbro: va bene, mancano pagine, manca la frase del medico. In più prepara la delega da firmare e la lettera per il medico.</a:t>
            </a:r>
            <a:endParaRPr/>
          </a:p>
        </p:txBody>
      </p:sp>
      <p:sp>
        <p:nvSpPr>
          <p:cNvPr id="67" name="Google Shape;6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1c30e251418f18d3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h1c30e251418f18d3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soluzione usa una metafora che tutti conoscono: uno sportello e una busta. Tre domande, poi i documenti entrano nella busta uno alla volta. Claude legge il documento sanitario e ci mette un timbro: va bene, mancano pagine, manca la frase del medico. In più prepara la delega da firmare e la lettera per il medico.</a:t>
            </a:r>
            <a:endParaRPr/>
          </a:p>
        </p:txBody>
      </p:sp>
      <p:sp>
        <p:nvSpPr>
          <p:cNvPr id="81" name="Google Shape;81;h1c30e251418f18d3_1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c30e251418f18d3_2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h1c30e251418f18d3_2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soluzione usa una metafora che tutti conoscono: uno sportello e una busta. Tre domande, poi i documenti entrano nella busta uno alla volta. Claude legge il documento sanitario e ci mette un timbro: va bene, mancano pagine, manca la frase del medico. In più prepara la delega da firmare e la lettera per il medico.</a:t>
            </a:r>
            <a:endParaRPr/>
          </a:p>
        </p:txBody>
      </p:sp>
      <p:sp>
        <p:nvSpPr>
          <p:cNvPr id="88" name="Google Shape;88;h1c30e251418f18d3_2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 l'assistente mostra la replica di ogni schermata del modulo vero del Comune, con il punto da toccare evidenziato e la scelta giusta per quella persona. Prima di premere invia facciamo la prova generale: Claude guarda lo screenshot del riepilogo e trova i problemi, qui tre, quando si possono ancora correggere.</a:t>
            </a:r>
            <a:endParaRPr/>
          </a:p>
        </p:txBody>
      </p:sp>
      <p:sp>
        <p:nvSpPr>
          <p:cNvPr id="95" name="Google Shape;9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Abbiamo progettato per Giorgio, settantun anni, che legge male i caratteri piccoli, e per Lucia, che fa la domanda per la madre di ottantaquattro. Si risponde a voce, i messaggi vengono letti ad alta voce, testo grande, e al posto dei moduli ci sono oggetti che tutti conoscono. Con i dati aperti del Comune troviamo anche gli uffici più vicini a casa.</a:t>
            </a:r>
            <a:endParaRPr/>
          </a:p>
        </p:txBody>
      </p:sp>
      <p:sp>
        <p:nvSpPr>
          <p:cNvPr id="106" name="Google Shape;10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Dietro le quinte ci sono tre pezzi. Il browser: la chat, la voce, la conversione delle foto e la delega in PDF; identità, foto, delega e targa non escono mai dal telefono. Un piccolo server Python senza database: contiene le dodici regole, ognuna con la sua fonte, e usa i dati aperti del Comune per trovare gli uffici vicini. E Claude, chiamato in due momenti: per leggere il documento sanitario e per la prova generale sul riepilogo, sempre con una risposta in formato fisso. Claude dice se i documenti sembrano completi; firma, invio e decisione restano alle persone.</a:t>
            </a:r>
            <a:endParaRPr/>
          </a:p>
        </p:txBody>
      </p:sp>
      <p:sp>
        <p:nvSpPr>
          <p:cNvPr id="130" name="Google Shape;13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 avete chiesto del GDPR. Partiamo da un punto onesto: anche coperto, un verbale di invalidità resta un dato sanitario, quindi non promettiamo l'anonimato ma la minimizzazione. Già oggi identità, foto, delega e targa restano sul telefono, e non c'è né database né log. La proposta per il pilota: il telefono legge il verbale e fa da solo i controlli semplici; quando serve Claude, nome, codice fiscale, numero di pratica e date vengono coperti con pecette definitive, e la persona vede in anteprima cosa parte. Chi non vuole caricare nulla usa la checklist.</a:t>
            </a:r>
            <a:endParaRPr/>
          </a:p>
        </p:txBody>
      </p:sp>
      <p:sp>
        <p:nvSpPr>
          <p:cNvPr id="159" name="Google Shape;15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1c30e251418f18d3_1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h1c30e251418f18d3_1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soluzione usa una metafora che tutti conoscono: uno sportello e una busta. Tre domande, poi i documenti entrano nella busta uno alla volta. Claude legge il documento sanitario e ci mette un timbro: va bene, mancano pagine, manca la frase del medico. In più prepara la delega da firmare e la lettera per il medico.</a:t>
            </a:r>
            <a:endParaRPr/>
          </a:p>
        </p:txBody>
      </p:sp>
      <p:sp>
        <p:nvSpPr>
          <p:cNvPr id="197" name="Google Shape;197;h1c30e251418f18d3_1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Sul piano formale proponiamo una catena chiara: il Comune titolare, il fornitore responsabile, il cloud sub-responsabile con il suo accordo. Claude può girare nell'Unione Europea, su Amazon Bedrock nella regione di Milano, oppure via API Anthropic con conservazione zero. Prima del pilota serve una valutazione d'impatto, perché ci sono dati sanitari e persone vulnerabili. La base giuridica è l'interesse pubblico rilevante, legato al procedimento del pass. E la regola che non cambia: l'IA controlla la completezza, decide una persona del Comune. Il resto lo decidiamo insieme al vostro responsabile della protezione dei dati.</a:t>
            </a:r>
            <a:endParaRPr/>
          </a:p>
        </p:txBody>
      </p:sp>
      <p:sp>
        <p:nvSpPr>
          <p:cNvPr id="204" name="Google Shape;20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vantaggi sono su tre livelli. Per chi chiede: una domanda completa al primo invio e meno viaggi. Per l'ufficio: meno richieste di integrazione e controlli già fatti, con le fonti. Per il Comune: risponde ai temi dei tavoli del nove settembre, la città proattiva e l'unico punto di accesso. E la privacy: documento d'identità e foto restano sul telefono, Claude legge solo il documento sanitario, nulla viene conservato, e decide sempre l'ufficio.</a:t>
            </a:r>
            <a:endParaRPr/>
          </a:p>
        </p:txBody>
      </p:sp>
      <p:sp>
        <p:nvSpPr>
          <p:cNvPr id="243" name="Google Shape;24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Il pass è il primo caso, non l'unico. Ogni procedura fatta di documenti e regole funziona allo stesso modo: la residenza per chi arriva dall'estero, il pass sosta residenti, il contributo per abbattere le barriere architettoniche, l'area di sosta personalizzata, la TARI, la carta d'identità a domicilio. Per aggiungere un servizio si cambia solo il file delle regole. Busta, voce, privacy e prova generale restano uguali.</a:t>
            </a:r>
            <a:endParaRPr/>
          </a:p>
        </p:txBody>
      </p:sp>
      <p:sp>
        <p:nvSpPr>
          <p:cNvPr id="268" name="Google Shape;26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Non serve rifare il modulo. Oggi il prototipo usa i dati aperti e il modulo esistente. Nel pilota basta un link dalla pagina del servizio e lo SPID che il Comune usa già; la scheda dei controlli può accompagnare la pratica. Poi si scala ad altre procedure e allo stato della pratica, con valutazione d'impatto privacy. Chiediamo un test con venti cittadini e con l'ufficio pass, per misurare tempi ed errori con e senza assistente. Grazie.</a:t>
            </a:r>
            <a:endParaRPr/>
          </a:p>
        </p:txBody>
      </p:sp>
      <p:sp>
        <p:nvSpPr>
          <p:cNvPr id="289" name="Google Shape;28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drive.google.com/file/d/1IBA-j7UbzyEKFIOw6JnSV9G9V40xYuOe/view" TargetMode="External"/><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5.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21.png"/><Relationship Id="rId8"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20.png"/><Relationship Id="rId6"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25.png"/><Relationship Id="rId6" Type="http://schemas.openxmlformats.org/officeDocument/2006/relationships/hyperlink" Target="https://github.com/ricardoConsulenze/sportello-amic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9DA"/>
        </a:solidFill>
      </p:bgPr>
    </p:bg>
    <p:spTree>
      <p:nvGrpSpPr>
        <p:cNvPr id="15" name="Shape 15"/>
        <p:cNvGrpSpPr/>
        <p:nvPr/>
      </p:nvGrpSpPr>
      <p:grpSpPr>
        <a:xfrm>
          <a:off x="0" y="0"/>
          <a:ext cx="0" cy="0"/>
          <a:chOff x="0" y="0"/>
          <a:chExt cx="0" cy="0"/>
        </a:xfrm>
      </p:grpSpPr>
      <p:pic>
        <p:nvPicPr>
          <p:cNvPr descr="preencoded.png" id="16" name="Google Shape;16;h1c30e251418f18d3_1_42"/>
          <p:cNvPicPr preferRelativeResize="0"/>
          <p:nvPr/>
        </p:nvPicPr>
        <p:blipFill rotWithShape="1">
          <a:blip r:embed="rId3">
            <a:alphaModFix/>
          </a:blip>
          <a:srcRect b="0" l="0" r="0" t="0"/>
          <a:stretch/>
        </p:blipFill>
        <p:spPr>
          <a:xfrm>
            <a:off x="502920" y="960120"/>
            <a:ext cx="3108960" cy="3108960"/>
          </a:xfrm>
          <a:prstGeom prst="rect">
            <a:avLst/>
          </a:prstGeom>
          <a:noFill/>
          <a:ln>
            <a:noFill/>
          </a:ln>
        </p:spPr>
      </p:pic>
      <p:sp>
        <p:nvSpPr>
          <p:cNvPr id="17" name="Google Shape;17;h1c30e251418f18d3_1_42"/>
          <p:cNvSpPr txBox="1"/>
          <p:nvPr/>
        </p:nvSpPr>
        <p:spPr>
          <a:xfrm>
            <a:off x="3977640" y="1143000"/>
            <a:ext cx="4755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0E2B"/>
              </a:buClr>
              <a:buSzPts val="1100"/>
              <a:buFont typeface="Arial"/>
              <a:buNone/>
            </a:pPr>
            <a:r>
              <a:rPr b="1" i="0" lang="en-US" sz="1100" u="none" cap="none" strike="noStrike">
                <a:solidFill>
                  <a:srgbClr val="A50E2B"/>
                </a:solidFill>
                <a:latin typeface="Arial"/>
                <a:ea typeface="Arial"/>
                <a:cs typeface="Arial"/>
                <a:sym typeface="Arial"/>
              </a:rPr>
              <a:t>SPORTELLO AMICO · CLAUDE IMPACT LAB MILANO</a:t>
            </a:r>
            <a:endParaRPr b="0" i="0" sz="1100" u="none" cap="none" strike="noStrike">
              <a:solidFill>
                <a:schemeClr val="dk1"/>
              </a:solidFill>
              <a:latin typeface="Calibri"/>
              <a:ea typeface="Calibri"/>
              <a:cs typeface="Calibri"/>
              <a:sym typeface="Calibri"/>
            </a:endParaRPr>
          </a:p>
        </p:txBody>
      </p:sp>
      <p:sp>
        <p:nvSpPr>
          <p:cNvPr id="18" name="Google Shape;18;h1c30e251418f18d3_1_42"/>
          <p:cNvSpPr txBox="1"/>
          <p:nvPr/>
        </p:nvSpPr>
        <p:spPr>
          <a:xfrm>
            <a:off x="3977640" y="1481328"/>
            <a:ext cx="4846200" cy="1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3600"/>
              <a:buFont typeface="Georgia"/>
              <a:buNone/>
            </a:pPr>
            <a:r>
              <a:rPr b="1" i="0" lang="en-US" sz="3600" u="none" cap="none" strike="noStrike">
                <a:solidFill>
                  <a:srgbClr val="15171A"/>
                </a:solidFill>
                <a:latin typeface="Georgia"/>
                <a:ea typeface="Georgia"/>
                <a:cs typeface="Georgia"/>
                <a:sym typeface="Georgia"/>
              </a:rPr>
              <a:t>Prepariamo la domanda insieme.</a:t>
            </a:r>
            <a:endParaRPr b="0" i="0" sz="3600" u="none" cap="none" strike="noStrike">
              <a:solidFill>
                <a:schemeClr val="dk1"/>
              </a:solidFill>
              <a:latin typeface="Calibri"/>
              <a:ea typeface="Calibri"/>
              <a:cs typeface="Calibri"/>
              <a:sym typeface="Calibri"/>
            </a:endParaRPr>
          </a:p>
        </p:txBody>
      </p:sp>
      <p:sp>
        <p:nvSpPr>
          <p:cNvPr id="19" name="Google Shape;19;h1c30e251418f18d3_1_42"/>
          <p:cNvSpPr txBox="1"/>
          <p:nvPr/>
        </p:nvSpPr>
        <p:spPr>
          <a:xfrm>
            <a:off x="3977640" y="2852928"/>
            <a:ext cx="4663500" cy="59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B2B"/>
              </a:buClr>
              <a:buSzPts val="1700"/>
              <a:buFont typeface="Arial"/>
              <a:buNone/>
            </a:pPr>
            <a:r>
              <a:rPr b="0" i="0" lang="en-US" sz="1700" u="none" cap="none" strike="noStrike">
                <a:solidFill>
                  <a:srgbClr val="2B2B2B"/>
                </a:solidFill>
                <a:latin typeface="Arial"/>
                <a:ea typeface="Arial"/>
                <a:cs typeface="Arial"/>
                <a:sym typeface="Arial"/>
              </a:rPr>
              <a:t>Il pass disabili di Milano, senza fretta e un passo alla volta.</a:t>
            </a:r>
            <a:endParaRPr b="0" i="0" sz="1700" u="none" cap="none" strike="noStrike">
              <a:solidFill>
                <a:schemeClr val="dk1"/>
              </a:solidFill>
              <a:latin typeface="Calibri"/>
              <a:ea typeface="Calibri"/>
              <a:cs typeface="Calibri"/>
              <a:sym typeface="Calibri"/>
            </a:endParaRPr>
          </a:p>
        </p:txBody>
      </p:sp>
      <p:sp>
        <p:nvSpPr>
          <p:cNvPr id="20" name="Google Shape;20;h1c30e251418f18d3_1_42"/>
          <p:cNvSpPr/>
          <p:nvPr/>
        </p:nvSpPr>
        <p:spPr>
          <a:xfrm>
            <a:off x="3977640" y="3611880"/>
            <a:ext cx="3291900" cy="567000"/>
          </a:xfrm>
          <a:prstGeom prst="roundRect">
            <a:avLst>
              <a:gd fmla="val 22581" name="adj"/>
            </a:avLst>
          </a:prstGeom>
          <a:solidFill>
            <a:srgbClr val="97202F"/>
          </a:solidFill>
          <a:ln cap="flat" cmpd="sng" w="9525">
            <a:solidFill>
              <a:srgbClr val="97202F"/>
            </a:solidFill>
            <a:prstDash val="solid"/>
            <a:round/>
            <a:headEnd len="sm" w="sm" type="none"/>
            <a:tailEnd len="sm" w="sm" type="none"/>
          </a:ln>
          <a:effectLst>
            <a:outerShdw blurRad="101600" rotWithShape="0" algn="bl" dir="5400000" dist="38100">
              <a:srgbClr val="6E0A1E"/>
            </a:outerShdw>
          </a:effectLst>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Inizia con lo Sportello Amico</a:t>
            </a:r>
            <a:endParaRPr b="0" i="0" sz="1600" u="none" cap="none" strike="noStrike">
              <a:solidFill>
                <a:schemeClr val="dk1"/>
              </a:solidFill>
              <a:latin typeface="Calibri"/>
              <a:ea typeface="Calibri"/>
              <a:cs typeface="Calibri"/>
              <a:sym typeface="Calibri"/>
            </a:endParaRPr>
          </a:p>
        </p:txBody>
      </p:sp>
      <p:sp>
        <p:nvSpPr>
          <p:cNvPr id="21" name="Google Shape;21;h1c30e251418f18d3_1_42"/>
          <p:cNvSpPr txBox="1"/>
          <p:nvPr/>
        </p:nvSpPr>
        <p:spPr>
          <a:xfrm>
            <a:off x="3977640" y="4480560"/>
            <a:ext cx="46635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256"/>
              </a:buClr>
              <a:buSzPts val="1100"/>
              <a:buFont typeface="Arial"/>
              <a:buNone/>
            </a:pPr>
            <a:r>
              <a:rPr b="0" i="0" lang="en-US" sz="1100" u="none" cap="none" strike="noStrike">
                <a:solidFill>
                  <a:srgbClr val="6B6256"/>
                </a:solidFill>
                <a:latin typeface="Arial"/>
                <a:ea typeface="Arial"/>
                <a:cs typeface="Arial"/>
                <a:sym typeface="Arial"/>
              </a:rPr>
              <a:t>Track 02 · Procedura assistita · 3 ottobre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CD8"/>
        </a:solidFill>
      </p:bgPr>
    </p:bg>
    <p:spTree>
      <p:nvGrpSpPr>
        <p:cNvPr id="26" name="Shape 26"/>
        <p:cNvGrpSpPr/>
        <p:nvPr/>
      </p:nvGrpSpPr>
      <p:grpSpPr>
        <a:xfrm>
          <a:off x="0" y="0"/>
          <a:ext cx="0" cy="0"/>
          <a:chOff x="0" y="0"/>
          <a:chExt cx="0" cy="0"/>
        </a:xfrm>
      </p:grpSpPr>
      <p:sp>
        <p:nvSpPr>
          <p:cNvPr id="27" name="Google Shape;27;p2"/>
          <p:cNvSpPr txBox="1"/>
          <p:nvPr/>
        </p:nvSpPr>
        <p:spPr>
          <a:xfrm>
            <a:off x="548640" y="384048"/>
            <a:ext cx="804672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3000"/>
              <a:buFont typeface="Arial"/>
              <a:buNone/>
            </a:pPr>
            <a:r>
              <a:rPr b="1" i="0" lang="en-US" sz="3000" u="none" cap="none" strike="noStrike">
                <a:solidFill>
                  <a:srgbClr val="15171A"/>
                </a:solidFill>
                <a:latin typeface="Arial"/>
                <a:ea typeface="Arial"/>
                <a:cs typeface="Arial"/>
                <a:sym typeface="Arial"/>
              </a:rPr>
              <a:t>Oggi: un percorso a ostacoli</a:t>
            </a:r>
            <a:endParaRPr b="0" i="0" sz="3000" u="none" cap="none" strike="noStrike">
              <a:solidFill>
                <a:schemeClr val="dk1"/>
              </a:solidFill>
              <a:latin typeface="Calibri"/>
              <a:ea typeface="Calibri"/>
              <a:cs typeface="Calibri"/>
              <a:sym typeface="Calibri"/>
            </a:endParaRPr>
          </a:p>
        </p:txBody>
      </p:sp>
      <p:sp>
        <p:nvSpPr>
          <p:cNvPr id="28" name="Google Shape;28;p2"/>
          <p:cNvSpPr txBox="1"/>
          <p:nvPr/>
        </p:nvSpPr>
        <p:spPr>
          <a:xfrm>
            <a:off x="548640" y="1325880"/>
            <a:ext cx="182880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0E2B"/>
              </a:buClr>
              <a:buSzPts val="8000"/>
              <a:buFont typeface="Arial"/>
              <a:buNone/>
            </a:pPr>
            <a:r>
              <a:rPr b="1" i="0" lang="en-US" sz="8000" u="none" cap="none" strike="noStrike">
                <a:solidFill>
                  <a:srgbClr val="A50E2B"/>
                </a:solidFill>
                <a:latin typeface="Arial"/>
                <a:ea typeface="Arial"/>
                <a:cs typeface="Arial"/>
                <a:sym typeface="Arial"/>
              </a:rPr>
              <a:t>10</a:t>
            </a:r>
            <a:endParaRPr b="0" i="0" sz="8000" u="none" cap="none" strike="noStrike">
              <a:solidFill>
                <a:schemeClr val="dk1"/>
              </a:solidFill>
              <a:latin typeface="Calibri"/>
              <a:ea typeface="Calibri"/>
              <a:cs typeface="Calibri"/>
              <a:sym typeface="Calibri"/>
            </a:endParaRPr>
          </a:p>
        </p:txBody>
      </p:sp>
      <p:sp>
        <p:nvSpPr>
          <p:cNvPr id="29" name="Google Shape;29;p2"/>
          <p:cNvSpPr txBox="1"/>
          <p:nvPr/>
        </p:nvSpPr>
        <p:spPr>
          <a:xfrm>
            <a:off x="548640" y="2743200"/>
            <a:ext cx="1965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600"/>
              <a:buFont typeface="Arial"/>
              <a:buNone/>
            </a:pPr>
            <a:r>
              <a:rPr b="1" i="0" lang="en-US" sz="1600" u="none" cap="none" strike="noStrike">
                <a:solidFill>
                  <a:srgbClr val="15171A"/>
                </a:solidFill>
                <a:latin typeface="Arial"/>
                <a:ea typeface="Arial"/>
                <a:cs typeface="Arial"/>
                <a:sym typeface="Arial"/>
              </a:rPr>
              <a:t>schermate online</a:t>
            </a:r>
            <a:endParaRPr b="0" i="0" sz="1600" u="none" cap="none" strike="noStrike">
              <a:solidFill>
                <a:schemeClr val="dk1"/>
              </a:solidFill>
              <a:latin typeface="Calibri"/>
              <a:ea typeface="Calibri"/>
              <a:cs typeface="Calibri"/>
              <a:sym typeface="Calibri"/>
            </a:endParaRPr>
          </a:p>
        </p:txBody>
      </p:sp>
      <p:sp>
        <p:nvSpPr>
          <p:cNvPr id="30" name="Google Shape;30;p2"/>
          <p:cNvSpPr txBox="1"/>
          <p:nvPr/>
        </p:nvSpPr>
        <p:spPr>
          <a:xfrm>
            <a:off x="548640" y="3127248"/>
            <a:ext cx="18745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300"/>
              <a:buFont typeface="Arial"/>
              <a:buNone/>
            </a:pPr>
            <a:r>
              <a:rPr b="0" i="0" lang="en-US" sz="1300" u="none" cap="none" strike="noStrike">
                <a:solidFill>
                  <a:srgbClr val="6B7280"/>
                </a:solidFill>
                <a:latin typeface="Arial"/>
                <a:ea typeface="Arial"/>
                <a:cs typeface="Arial"/>
                <a:sym typeface="Arial"/>
              </a:rPr>
              <a:t>con SPID, CIE o eIDAS</a:t>
            </a:r>
            <a:endParaRPr b="0" i="0" sz="1300" u="none" cap="none" strike="noStrike">
              <a:solidFill>
                <a:schemeClr val="dk1"/>
              </a:solidFill>
              <a:latin typeface="Calibri"/>
              <a:ea typeface="Calibri"/>
              <a:cs typeface="Calibri"/>
              <a:sym typeface="Calibri"/>
            </a:endParaRPr>
          </a:p>
        </p:txBody>
      </p:sp>
      <p:sp>
        <p:nvSpPr>
          <p:cNvPr id="31" name="Google Shape;31;p2"/>
          <p:cNvSpPr txBox="1"/>
          <p:nvPr/>
        </p:nvSpPr>
        <p:spPr>
          <a:xfrm>
            <a:off x="2606040" y="1325880"/>
            <a:ext cx="182880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0E2B"/>
              </a:buClr>
              <a:buSzPts val="8000"/>
              <a:buFont typeface="Arial"/>
              <a:buNone/>
            </a:pPr>
            <a:r>
              <a:rPr b="1" i="0" lang="en-US" sz="8000" u="none" cap="none" strike="noStrike">
                <a:solidFill>
                  <a:srgbClr val="A50E2B"/>
                </a:solidFill>
                <a:latin typeface="Arial"/>
                <a:ea typeface="Arial"/>
                <a:cs typeface="Arial"/>
                <a:sym typeface="Arial"/>
              </a:rPr>
              <a:t>5</a:t>
            </a:r>
            <a:endParaRPr b="0" i="0" sz="8000" u="none" cap="none" strike="noStrike">
              <a:solidFill>
                <a:schemeClr val="dk1"/>
              </a:solidFill>
              <a:latin typeface="Calibri"/>
              <a:ea typeface="Calibri"/>
              <a:cs typeface="Calibri"/>
              <a:sym typeface="Calibri"/>
            </a:endParaRPr>
          </a:p>
        </p:txBody>
      </p:sp>
      <p:sp>
        <p:nvSpPr>
          <p:cNvPr id="32" name="Google Shape;32;p2"/>
          <p:cNvSpPr txBox="1"/>
          <p:nvPr/>
        </p:nvSpPr>
        <p:spPr>
          <a:xfrm>
            <a:off x="2606040" y="2743200"/>
            <a:ext cx="1965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600"/>
              <a:buFont typeface="Arial"/>
              <a:buNone/>
            </a:pPr>
            <a:r>
              <a:rPr b="1" i="0" lang="en-US" sz="1600" u="none" cap="none" strike="noStrike">
                <a:solidFill>
                  <a:srgbClr val="15171A"/>
                </a:solidFill>
                <a:latin typeface="Arial"/>
                <a:ea typeface="Arial"/>
                <a:cs typeface="Arial"/>
                <a:sym typeface="Arial"/>
              </a:rPr>
              <a:t>enti diversi</a:t>
            </a:r>
            <a:endParaRPr b="0" i="0" sz="1600" u="none" cap="none" strike="noStrike">
              <a:solidFill>
                <a:schemeClr val="dk1"/>
              </a:solidFill>
              <a:latin typeface="Calibri"/>
              <a:ea typeface="Calibri"/>
              <a:cs typeface="Calibri"/>
              <a:sym typeface="Calibri"/>
            </a:endParaRPr>
          </a:p>
        </p:txBody>
      </p:sp>
      <p:sp>
        <p:nvSpPr>
          <p:cNvPr id="33" name="Google Shape;33;p2"/>
          <p:cNvSpPr txBox="1"/>
          <p:nvPr/>
        </p:nvSpPr>
        <p:spPr>
          <a:xfrm>
            <a:off x="2606040" y="3127248"/>
            <a:ext cx="18745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300"/>
              <a:buFont typeface="Arial"/>
              <a:buNone/>
            </a:pPr>
            <a:r>
              <a:rPr b="0" i="0" lang="en-US" sz="1300" u="none" cap="none" strike="noStrike">
                <a:solidFill>
                  <a:srgbClr val="6B7280"/>
                </a:solidFill>
                <a:latin typeface="Arial"/>
                <a:ea typeface="Arial"/>
                <a:cs typeface="Arial"/>
                <a:sym typeface="Arial"/>
              </a:rPr>
              <a:t>Comune, INPS, ASL, MIT, Stato</a:t>
            </a:r>
            <a:endParaRPr b="0" i="0" sz="1300" u="none" cap="none" strike="noStrike">
              <a:solidFill>
                <a:schemeClr val="dk1"/>
              </a:solidFill>
              <a:latin typeface="Calibri"/>
              <a:ea typeface="Calibri"/>
              <a:cs typeface="Calibri"/>
              <a:sym typeface="Calibri"/>
            </a:endParaRPr>
          </a:p>
        </p:txBody>
      </p:sp>
      <p:sp>
        <p:nvSpPr>
          <p:cNvPr id="34" name="Google Shape;34;p2"/>
          <p:cNvSpPr txBox="1"/>
          <p:nvPr/>
        </p:nvSpPr>
        <p:spPr>
          <a:xfrm>
            <a:off x="4663440" y="1325880"/>
            <a:ext cx="182880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0E2B"/>
              </a:buClr>
              <a:buSzPts val="8000"/>
              <a:buFont typeface="Arial"/>
              <a:buNone/>
            </a:pPr>
            <a:r>
              <a:rPr b="1" i="0" lang="en-US" sz="8000" u="none" cap="none" strike="noStrike">
                <a:solidFill>
                  <a:srgbClr val="A50E2B"/>
                </a:solidFill>
                <a:latin typeface="Arial"/>
                <a:ea typeface="Arial"/>
                <a:cs typeface="Arial"/>
                <a:sym typeface="Arial"/>
              </a:rPr>
              <a:t>30</a:t>
            </a:r>
            <a:endParaRPr b="0" i="0" sz="8000" u="none" cap="none" strike="noStrike">
              <a:solidFill>
                <a:schemeClr val="dk1"/>
              </a:solidFill>
              <a:latin typeface="Calibri"/>
              <a:ea typeface="Calibri"/>
              <a:cs typeface="Calibri"/>
              <a:sym typeface="Calibri"/>
            </a:endParaRPr>
          </a:p>
        </p:txBody>
      </p:sp>
      <p:sp>
        <p:nvSpPr>
          <p:cNvPr id="35" name="Google Shape;35;p2"/>
          <p:cNvSpPr txBox="1"/>
          <p:nvPr/>
        </p:nvSpPr>
        <p:spPr>
          <a:xfrm>
            <a:off x="4663440" y="2743200"/>
            <a:ext cx="1965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600"/>
              <a:buFont typeface="Arial"/>
              <a:buNone/>
            </a:pPr>
            <a:r>
              <a:rPr b="1" i="0" lang="en-US" sz="1600" u="none" cap="none" strike="noStrike">
                <a:solidFill>
                  <a:srgbClr val="15171A"/>
                </a:solidFill>
                <a:latin typeface="Arial"/>
                <a:ea typeface="Arial"/>
                <a:cs typeface="Arial"/>
                <a:sym typeface="Arial"/>
              </a:rPr>
              <a:t>giorni di attesa</a:t>
            </a:r>
            <a:endParaRPr b="0" i="0" sz="1600" u="none" cap="none" strike="noStrike">
              <a:solidFill>
                <a:schemeClr val="dk1"/>
              </a:solidFill>
              <a:latin typeface="Calibri"/>
              <a:ea typeface="Calibri"/>
              <a:cs typeface="Calibri"/>
              <a:sym typeface="Calibri"/>
            </a:endParaRPr>
          </a:p>
        </p:txBody>
      </p:sp>
      <p:sp>
        <p:nvSpPr>
          <p:cNvPr id="36" name="Google Shape;36;p2"/>
          <p:cNvSpPr txBox="1"/>
          <p:nvPr/>
        </p:nvSpPr>
        <p:spPr>
          <a:xfrm>
            <a:off x="4663440" y="3127248"/>
            <a:ext cx="18745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300"/>
              <a:buFont typeface="Arial"/>
              <a:buNone/>
            </a:pPr>
            <a:r>
              <a:rPr b="0" i="0" lang="en-US" sz="1300" u="none" cap="none" strike="noStrike">
                <a:solidFill>
                  <a:srgbClr val="6B7280"/>
                </a:solidFill>
                <a:latin typeface="Arial"/>
                <a:ea typeface="Arial"/>
                <a:cs typeface="Arial"/>
                <a:sym typeface="Arial"/>
              </a:rPr>
              <a:t>media 2025</a:t>
            </a:r>
            <a:endParaRPr b="0" i="0" sz="1300" u="none" cap="none" strike="noStrike">
              <a:solidFill>
                <a:schemeClr val="dk1"/>
              </a:solidFill>
              <a:latin typeface="Calibri"/>
              <a:ea typeface="Calibri"/>
              <a:cs typeface="Calibri"/>
              <a:sym typeface="Calibri"/>
            </a:endParaRPr>
          </a:p>
        </p:txBody>
      </p:sp>
      <p:sp>
        <p:nvSpPr>
          <p:cNvPr id="37" name="Google Shape;37;p2"/>
          <p:cNvSpPr txBox="1"/>
          <p:nvPr/>
        </p:nvSpPr>
        <p:spPr>
          <a:xfrm>
            <a:off x="6720840" y="1325880"/>
            <a:ext cx="182880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0E2B"/>
              </a:buClr>
              <a:buSzPts val="8000"/>
              <a:buFont typeface="Arial"/>
              <a:buNone/>
            </a:pPr>
            <a:r>
              <a:rPr b="1" i="0" lang="en-US" sz="8000" u="none" cap="none" strike="noStrike">
                <a:solidFill>
                  <a:srgbClr val="A50E2B"/>
                </a:solidFill>
                <a:latin typeface="Arial"/>
                <a:ea typeface="Arial"/>
                <a:cs typeface="Arial"/>
                <a:sym typeface="Arial"/>
              </a:rPr>
              <a:t>1</a:t>
            </a:r>
            <a:endParaRPr b="0" i="0" sz="8000" u="none" cap="none" strike="noStrike">
              <a:solidFill>
                <a:schemeClr val="dk1"/>
              </a:solidFill>
              <a:latin typeface="Calibri"/>
              <a:ea typeface="Calibri"/>
              <a:cs typeface="Calibri"/>
              <a:sym typeface="Calibri"/>
            </a:endParaRPr>
          </a:p>
        </p:txBody>
      </p:sp>
      <p:sp>
        <p:nvSpPr>
          <p:cNvPr id="38" name="Google Shape;38;p2"/>
          <p:cNvSpPr txBox="1"/>
          <p:nvPr/>
        </p:nvSpPr>
        <p:spPr>
          <a:xfrm>
            <a:off x="6720840" y="2743200"/>
            <a:ext cx="1965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600"/>
              <a:buFont typeface="Arial"/>
              <a:buNone/>
            </a:pPr>
            <a:r>
              <a:rPr b="1" i="0" lang="en-US" sz="1600" u="none" cap="none" strike="noStrike">
                <a:solidFill>
                  <a:srgbClr val="15171A"/>
                </a:solidFill>
                <a:latin typeface="Arial"/>
                <a:ea typeface="Arial"/>
                <a:cs typeface="Arial"/>
                <a:sym typeface="Arial"/>
              </a:rPr>
              <a:t>solo ufficio</a:t>
            </a:r>
            <a:endParaRPr b="0" i="0" sz="1600" u="none" cap="none" strike="noStrike">
              <a:solidFill>
                <a:schemeClr val="dk1"/>
              </a:solidFill>
              <a:latin typeface="Calibri"/>
              <a:ea typeface="Calibri"/>
              <a:cs typeface="Calibri"/>
              <a:sym typeface="Calibri"/>
            </a:endParaRPr>
          </a:p>
        </p:txBody>
      </p:sp>
      <p:sp>
        <p:nvSpPr>
          <p:cNvPr id="39" name="Google Shape;39;p2"/>
          <p:cNvSpPr txBox="1"/>
          <p:nvPr/>
        </p:nvSpPr>
        <p:spPr>
          <a:xfrm>
            <a:off x="6720840" y="3127248"/>
            <a:ext cx="18745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300"/>
              <a:buFont typeface="Arial"/>
              <a:buNone/>
            </a:pPr>
            <a:r>
              <a:rPr b="0" i="0" lang="en-US" sz="1300" u="none" cap="none" strike="noStrike">
                <a:solidFill>
                  <a:srgbClr val="6B7280"/>
                </a:solidFill>
                <a:latin typeface="Arial"/>
                <a:ea typeface="Arial"/>
                <a:cs typeface="Arial"/>
                <a:sym typeface="Arial"/>
              </a:rPr>
              <a:t>via Sile 8, su appuntamento</a:t>
            </a:r>
            <a:endParaRPr b="0" i="0" sz="1300" u="none" cap="none" strike="noStrike">
              <a:solidFill>
                <a:schemeClr val="dk1"/>
              </a:solidFill>
              <a:latin typeface="Calibri"/>
              <a:ea typeface="Calibri"/>
              <a:cs typeface="Calibri"/>
              <a:sym typeface="Calibri"/>
            </a:endParaRPr>
          </a:p>
        </p:txBody>
      </p:sp>
      <p:sp>
        <p:nvSpPr>
          <p:cNvPr id="40" name="Google Shape;40;p2"/>
          <p:cNvSpPr txBox="1"/>
          <p:nvPr/>
        </p:nvSpPr>
        <p:spPr>
          <a:xfrm>
            <a:off x="548640" y="4736592"/>
            <a:ext cx="8046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000"/>
              <a:buFont typeface="Arial"/>
              <a:buNone/>
            </a:pPr>
            <a:r>
              <a:rPr b="0" i="0" lang="en-US" sz="1000" u="none" cap="none" strike="noStrike">
                <a:solidFill>
                  <a:srgbClr val="6B7280"/>
                </a:solidFill>
                <a:latin typeface="Arial"/>
                <a:ea typeface="Arial"/>
                <a:cs typeface="Arial"/>
                <a:sym typeface="Arial"/>
              </a:rPr>
              <a:t>Fonte: modulo online CUDE e pagina del servizio, Comune di Milano; Tipologie di procedimento, Direzione Mobilità.</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71A"/>
        </a:solidFill>
      </p:bgPr>
    </p:bg>
    <p:spTree>
      <p:nvGrpSpPr>
        <p:cNvPr id="45" name="Shape 45"/>
        <p:cNvGrpSpPr/>
        <p:nvPr/>
      </p:nvGrpSpPr>
      <p:grpSpPr>
        <a:xfrm>
          <a:off x="0" y="0"/>
          <a:ext cx="0" cy="0"/>
          <a:chOff x="0" y="0"/>
          <a:chExt cx="0" cy="0"/>
        </a:xfrm>
      </p:grpSpPr>
      <p:pic>
        <p:nvPicPr>
          <p:cNvPr descr="preencoded.png" id="46" name="Google Shape;46;p3"/>
          <p:cNvPicPr preferRelativeResize="0"/>
          <p:nvPr/>
        </p:nvPicPr>
        <p:blipFill rotWithShape="1">
          <a:blip r:embed="rId3">
            <a:alphaModFix/>
          </a:blip>
          <a:srcRect b="0" l="0" r="0" t="0"/>
          <a:stretch/>
        </p:blipFill>
        <p:spPr>
          <a:xfrm>
            <a:off x="822960" y="457200"/>
            <a:ext cx="2926080" cy="4142232"/>
          </a:xfrm>
          <a:prstGeom prst="rect">
            <a:avLst/>
          </a:prstGeom>
          <a:noFill/>
          <a:ln>
            <a:noFill/>
          </a:ln>
          <a:effectLst>
            <a:outerShdw blurRad="177800" rotWithShape="0" algn="bl" dir="5400000" dist="50800">
              <a:srgbClr val="000000">
                <a:alpha val="27843"/>
              </a:srgbClr>
            </a:outerShdw>
          </a:effectLst>
        </p:spPr>
      </p:pic>
      <p:sp>
        <p:nvSpPr>
          <p:cNvPr id="47" name="Google Shape;47;p3"/>
          <p:cNvSpPr/>
          <p:nvPr/>
        </p:nvSpPr>
        <p:spPr>
          <a:xfrm rot="-480000">
            <a:off x="1143000" y="3611880"/>
            <a:ext cx="2286000" cy="438912"/>
          </a:xfrm>
          <a:prstGeom prst="roundRect">
            <a:avLst>
              <a:gd fmla="val 16667" name="adj"/>
            </a:avLst>
          </a:prstGeom>
          <a:solidFill>
            <a:srgbClr val="FFFFFF"/>
          </a:solidFill>
          <a:ln cap="flat" cmpd="sng" w="31750">
            <a:solidFill>
              <a:srgbClr val="A50E2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A50E2B"/>
              </a:buClr>
              <a:buSzPts val="1700"/>
              <a:buFont typeface="Arial"/>
              <a:buNone/>
            </a:pPr>
            <a:r>
              <a:rPr b="1" i="0" lang="en-US" sz="1700" u="none" cap="none" strike="noStrike">
                <a:solidFill>
                  <a:srgbClr val="A50E2B"/>
                </a:solidFill>
                <a:latin typeface="Arial"/>
                <a:ea typeface="Arial"/>
                <a:cs typeface="Arial"/>
                <a:sym typeface="Arial"/>
              </a:rPr>
              <a:t>PAGINA 5 DI 7</a:t>
            </a:r>
            <a:endParaRPr b="0" i="0" sz="1700" u="none" cap="none" strike="noStrike">
              <a:solidFill>
                <a:schemeClr val="dk1"/>
              </a:solidFill>
              <a:latin typeface="Calibri"/>
              <a:ea typeface="Calibri"/>
              <a:cs typeface="Calibri"/>
              <a:sym typeface="Calibri"/>
            </a:endParaRPr>
          </a:p>
        </p:txBody>
      </p:sp>
      <p:sp>
        <p:nvSpPr>
          <p:cNvPr id="48" name="Google Shape;48;p3"/>
          <p:cNvSpPr txBox="1"/>
          <p:nvPr/>
        </p:nvSpPr>
        <p:spPr>
          <a:xfrm>
            <a:off x="4343400" y="1325880"/>
            <a:ext cx="429768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L'esempio del Comune è incompleto</a:t>
            </a:r>
            <a:endParaRPr b="0" i="0" sz="3000" u="none" cap="none" strike="noStrike">
              <a:solidFill>
                <a:schemeClr val="dk1"/>
              </a:solidFill>
              <a:latin typeface="Calibri"/>
              <a:ea typeface="Calibri"/>
              <a:cs typeface="Calibri"/>
              <a:sym typeface="Calibri"/>
            </a:endParaRPr>
          </a:p>
        </p:txBody>
      </p:sp>
      <p:sp>
        <p:nvSpPr>
          <p:cNvPr id="49" name="Google Shape;49;p3"/>
          <p:cNvSpPr txBox="1"/>
          <p:nvPr/>
        </p:nvSpPr>
        <p:spPr>
          <a:xfrm>
            <a:off x="4343400" y="2697480"/>
            <a:ext cx="41148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600"/>
              <a:buFont typeface="Arial"/>
              <a:buNone/>
            </a:pPr>
            <a:r>
              <a:rPr b="0" i="0" lang="en-US" sz="1600" u="none" cap="none" strike="noStrike">
                <a:solidFill>
                  <a:srgbClr val="CBD5E1"/>
                </a:solidFill>
                <a:latin typeface="Arial"/>
                <a:ea typeface="Arial"/>
                <a:cs typeface="Arial"/>
                <a:sym typeface="Arial"/>
              </a:rPr>
              <a:t>Il verbale va caricato con tutte le pagine. L'esempio pubblicato nel modulo ne mostra una sola.</a:t>
            </a:r>
            <a:endParaRPr b="0" i="0" sz="1600" u="none" cap="none" strike="noStrike">
              <a:solidFill>
                <a:schemeClr val="dk1"/>
              </a:solidFill>
              <a:latin typeface="Calibri"/>
              <a:ea typeface="Calibri"/>
              <a:cs typeface="Calibri"/>
              <a:sym typeface="Calibri"/>
            </a:endParaRPr>
          </a:p>
        </p:txBody>
      </p:sp>
      <p:sp>
        <p:nvSpPr>
          <p:cNvPr id="50" name="Google Shape;50;p3"/>
          <p:cNvSpPr txBox="1"/>
          <p:nvPr/>
        </p:nvSpPr>
        <p:spPr>
          <a:xfrm>
            <a:off x="548640" y="4736592"/>
            <a:ext cx="8046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CA3AF"/>
              </a:buClr>
              <a:buSzPts val="1000"/>
              <a:buFont typeface="Arial"/>
              <a:buNone/>
            </a:pPr>
            <a:r>
              <a:rPr b="0" i="0" lang="en-US" sz="1000" u="none" cap="none" strike="noStrike">
                <a:solidFill>
                  <a:srgbClr val="9CA3AF"/>
                </a:solidFill>
                <a:latin typeface="Arial"/>
                <a:ea typeface="Arial"/>
                <a:cs typeface="Arial"/>
                <a:sym typeface="Arial"/>
              </a:rPr>
              <a:t>Fonte: esempio di verbale (art. 381 DPR 495/1992) allegato al modulo digitale CUDE, Comune di Milano.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BD8"/>
        </a:solidFill>
      </p:bgPr>
    </p:bg>
    <p:spTree>
      <p:nvGrpSpPr>
        <p:cNvPr id="55" name="Shape 55"/>
        <p:cNvGrpSpPr/>
        <p:nvPr/>
      </p:nvGrpSpPr>
      <p:grpSpPr>
        <a:xfrm>
          <a:off x="0" y="0"/>
          <a:ext cx="0" cy="0"/>
          <a:chOff x="0" y="0"/>
          <a:chExt cx="0" cy="0"/>
        </a:xfrm>
      </p:grpSpPr>
      <p:sp>
        <p:nvSpPr>
          <p:cNvPr id="56" name="Google Shape;56;p4"/>
          <p:cNvSpPr txBox="1"/>
          <p:nvPr/>
        </p:nvSpPr>
        <p:spPr>
          <a:xfrm>
            <a:off x="548640" y="384048"/>
            <a:ext cx="804672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3000"/>
              <a:buFont typeface="Arial"/>
              <a:buNone/>
            </a:pPr>
            <a:r>
              <a:rPr b="1" i="0" lang="en-US" sz="3000" u="none" cap="none" strike="noStrike">
                <a:solidFill>
                  <a:srgbClr val="15171A"/>
                </a:solidFill>
                <a:latin typeface="Arial"/>
                <a:ea typeface="Arial"/>
                <a:cs typeface="Arial"/>
                <a:sym typeface="Arial"/>
              </a:rPr>
              <a:t>Il primo ostacolo: la complessità</a:t>
            </a:r>
            <a:endParaRPr b="0" i="0" sz="3000" u="none" cap="none" strike="noStrike">
              <a:solidFill>
                <a:schemeClr val="dk1"/>
              </a:solidFill>
              <a:latin typeface="Calibri"/>
              <a:ea typeface="Calibri"/>
              <a:cs typeface="Calibri"/>
              <a:sym typeface="Calibri"/>
            </a:endParaRPr>
          </a:p>
        </p:txBody>
      </p:sp>
      <p:graphicFrame>
        <p:nvGraphicFramePr>
          <p:cNvPr id="57" name="Google Shape;57;p4"/>
          <p:cNvGraphicFramePr/>
          <p:nvPr/>
        </p:nvGraphicFramePr>
        <p:xfrm>
          <a:off x="411480" y="1234440"/>
          <a:ext cx="5394960" cy="3291840"/>
        </p:xfrm>
        <a:graphic>
          <a:graphicData uri="http://schemas.openxmlformats.org/drawingml/2006/chart">
            <c:chart r:id="rId3"/>
          </a:graphicData>
        </a:graphic>
      </p:graphicFrame>
      <p:sp>
        <p:nvSpPr>
          <p:cNvPr id="58" name="Google Shape;58;p4"/>
          <p:cNvSpPr/>
          <p:nvPr/>
        </p:nvSpPr>
        <p:spPr>
          <a:xfrm>
            <a:off x="6172200" y="1280160"/>
            <a:ext cx="2423160" cy="3200400"/>
          </a:xfrm>
          <a:prstGeom prst="roundRect">
            <a:avLst>
              <a:gd fmla="val 4528" name="adj"/>
            </a:avLst>
          </a:prstGeom>
          <a:solidFill>
            <a:srgbClr val="F3F4F6"/>
          </a:solidFill>
          <a:ln cap="flat" cmpd="sng" w="12700">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txBox="1"/>
          <p:nvPr/>
        </p:nvSpPr>
        <p:spPr>
          <a:xfrm>
            <a:off x="6400800" y="1463040"/>
            <a:ext cx="21031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0E2B"/>
              </a:buClr>
              <a:buSzPts val="4400"/>
              <a:buFont typeface="Arial"/>
              <a:buNone/>
            </a:pPr>
            <a:r>
              <a:rPr b="1" i="0" lang="en-US" sz="4400" u="none" cap="none" strike="noStrike">
                <a:solidFill>
                  <a:srgbClr val="A50E2B"/>
                </a:solidFill>
                <a:latin typeface="Arial"/>
                <a:ea typeface="Arial"/>
                <a:cs typeface="Arial"/>
                <a:sym typeface="Arial"/>
              </a:rPr>
              <a:t>8.165</a:t>
            </a:r>
            <a:endParaRPr b="0" i="0" sz="4400" u="none" cap="none" strike="noStrike">
              <a:solidFill>
                <a:schemeClr val="dk1"/>
              </a:solidFill>
              <a:latin typeface="Calibri"/>
              <a:ea typeface="Calibri"/>
              <a:cs typeface="Calibri"/>
              <a:sym typeface="Calibri"/>
            </a:endParaRPr>
          </a:p>
        </p:txBody>
      </p:sp>
      <p:sp>
        <p:nvSpPr>
          <p:cNvPr id="60" name="Google Shape;60;p4"/>
          <p:cNvSpPr txBox="1"/>
          <p:nvPr/>
        </p:nvSpPr>
        <p:spPr>
          <a:xfrm>
            <a:off x="6400800" y="2212848"/>
            <a:ext cx="20116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300"/>
              <a:buFont typeface="Arial"/>
              <a:buNone/>
            </a:pPr>
            <a:r>
              <a:rPr b="0" i="0" lang="en-US" sz="1300" u="none" cap="none" strike="noStrike">
                <a:solidFill>
                  <a:srgbClr val="15171A"/>
                </a:solidFill>
                <a:latin typeface="Arial"/>
                <a:ea typeface="Arial"/>
                <a:cs typeface="Arial"/>
                <a:sym typeface="Arial"/>
              </a:rPr>
              <a:t>risposte nel 2024 sul pass sosta online</a:t>
            </a:r>
            <a:endParaRPr b="0" i="0" sz="1300" u="none" cap="none" strike="noStrike">
              <a:solidFill>
                <a:schemeClr val="dk1"/>
              </a:solidFill>
              <a:latin typeface="Calibri"/>
              <a:ea typeface="Calibri"/>
              <a:cs typeface="Calibri"/>
              <a:sym typeface="Calibri"/>
            </a:endParaRPr>
          </a:p>
        </p:txBody>
      </p:sp>
      <p:sp>
        <p:nvSpPr>
          <p:cNvPr id="61" name="Google Shape;61;p4"/>
          <p:cNvSpPr txBox="1"/>
          <p:nvPr/>
        </p:nvSpPr>
        <p:spPr>
          <a:xfrm>
            <a:off x="6400800" y="2926080"/>
            <a:ext cx="21031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0E2B"/>
              </a:buClr>
              <a:buSzPts val="3600"/>
              <a:buFont typeface="Arial"/>
              <a:buNone/>
            </a:pPr>
            <a:r>
              <a:rPr b="1" i="0" lang="en-US" sz="3600" u="none" cap="none" strike="noStrike">
                <a:solidFill>
                  <a:srgbClr val="A50E2B"/>
                </a:solidFill>
                <a:latin typeface="Arial"/>
                <a:ea typeface="Arial"/>
                <a:cs typeface="Arial"/>
                <a:sym typeface="Arial"/>
              </a:rPr>
              <a:t>3,2 / 5</a:t>
            </a:r>
            <a:endParaRPr b="0" i="0" sz="3600" u="none" cap="none" strike="noStrike">
              <a:solidFill>
                <a:schemeClr val="dk1"/>
              </a:solidFill>
              <a:latin typeface="Calibri"/>
              <a:ea typeface="Calibri"/>
              <a:cs typeface="Calibri"/>
              <a:sym typeface="Calibri"/>
            </a:endParaRPr>
          </a:p>
        </p:txBody>
      </p:sp>
      <p:sp>
        <p:nvSpPr>
          <p:cNvPr id="62" name="Google Shape;62;p4"/>
          <p:cNvSpPr txBox="1"/>
          <p:nvPr/>
        </p:nvSpPr>
        <p:spPr>
          <a:xfrm>
            <a:off x="6400800" y="3584448"/>
            <a:ext cx="20116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300"/>
              <a:buFont typeface="Arial"/>
              <a:buNone/>
            </a:pPr>
            <a:r>
              <a:rPr b="0" i="0" lang="en-US" sz="1300" u="none" cap="none" strike="noStrike">
                <a:solidFill>
                  <a:srgbClr val="15171A"/>
                </a:solidFill>
                <a:latin typeface="Arial"/>
                <a:ea typeface="Arial"/>
                <a:cs typeface="Arial"/>
                <a:sym typeface="Arial"/>
              </a:rPr>
              <a:t>facilità della residenza online per chi arriva dall'estero</a:t>
            </a:r>
            <a:endParaRPr b="0" i="0" sz="1300" u="none" cap="none" strike="noStrike">
              <a:solidFill>
                <a:schemeClr val="dk1"/>
              </a:solidFill>
              <a:latin typeface="Calibri"/>
              <a:ea typeface="Calibri"/>
              <a:cs typeface="Calibri"/>
              <a:sym typeface="Calibri"/>
            </a:endParaRPr>
          </a:p>
        </p:txBody>
      </p:sp>
      <p:sp>
        <p:nvSpPr>
          <p:cNvPr id="63" name="Google Shape;63;p4"/>
          <p:cNvSpPr txBox="1"/>
          <p:nvPr/>
        </p:nvSpPr>
        <p:spPr>
          <a:xfrm>
            <a:off x="548640" y="4736592"/>
            <a:ext cx="8046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000"/>
              <a:buFont typeface="Arial"/>
              <a:buNone/>
            </a:pPr>
            <a:r>
              <a:rPr b="0" i="0" lang="en-US" sz="1000" u="none" cap="none" strike="noStrike">
                <a:solidFill>
                  <a:srgbClr val="6B7280"/>
                </a:solidFill>
                <a:latin typeface="Arial"/>
                <a:ea typeface="Arial"/>
                <a:cs typeface="Arial"/>
                <a:sym typeface="Arial"/>
              </a:rPr>
              <a:t>Fonte: dati aperti Comune di Milano, rilevazioni qualità del servizio 2024. Difficoltà segnalate, risposta multipla.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AD8"/>
        </a:solidFill>
      </p:bgPr>
    </p:bg>
    <p:spTree>
      <p:nvGrpSpPr>
        <p:cNvPr id="68" name="Shape 68"/>
        <p:cNvGrpSpPr/>
        <p:nvPr/>
      </p:nvGrpSpPr>
      <p:grpSpPr>
        <a:xfrm>
          <a:off x="0" y="0"/>
          <a:ext cx="0" cy="0"/>
          <a:chOff x="0" y="0"/>
          <a:chExt cx="0" cy="0"/>
        </a:xfrm>
      </p:grpSpPr>
      <p:sp>
        <p:nvSpPr>
          <p:cNvPr id="69" name="Google Shape;69;p5"/>
          <p:cNvSpPr txBox="1"/>
          <p:nvPr/>
        </p:nvSpPr>
        <p:spPr>
          <a:xfrm>
            <a:off x="548640" y="384048"/>
            <a:ext cx="804672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3000"/>
              <a:buFont typeface="Arial"/>
              <a:buNone/>
            </a:pPr>
            <a:r>
              <a:rPr b="1" i="0" lang="en-US" sz="3000" u="none" cap="none" strike="noStrike">
                <a:solidFill>
                  <a:srgbClr val="15171A"/>
                </a:solidFill>
                <a:latin typeface="Arial"/>
                <a:ea typeface="Arial"/>
                <a:cs typeface="Arial"/>
                <a:sym typeface="Arial"/>
              </a:rPr>
              <a:t>Uno sportello e una busta</a:t>
            </a:r>
            <a:endParaRPr b="0" i="0" sz="3000" u="none" cap="none" strike="noStrike">
              <a:solidFill>
                <a:schemeClr val="dk1"/>
              </a:solidFill>
              <a:latin typeface="Calibri"/>
              <a:ea typeface="Calibri"/>
              <a:cs typeface="Calibri"/>
              <a:sym typeface="Calibri"/>
            </a:endParaRPr>
          </a:p>
        </p:txBody>
      </p:sp>
      <p:sp>
        <p:nvSpPr>
          <p:cNvPr id="70" name="Google Shape;70;p5"/>
          <p:cNvSpPr txBox="1"/>
          <p:nvPr/>
        </p:nvSpPr>
        <p:spPr>
          <a:xfrm>
            <a:off x="548640" y="960120"/>
            <a:ext cx="80467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600"/>
              <a:buFont typeface="Arial"/>
              <a:buNone/>
            </a:pPr>
            <a:r>
              <a:rPr b="0" i="0" lang="en-US" sz="1600" u="none" cap="none" strike="noStrike">
                <a:solidFill>
                  <a:srgbClr val="6B7280"/>
                </a:solidFill>
                <a:latin typeface="Arial"/>
                <a:ea typeface="Arial"/>
                <a:cs typeface="Arial"/>
                <a:sym typeface="Arial"/>
              </a:rPr>
              <a:t>Ogni documento viene controllato e timbrato prima dell'invio</a:t>
            </a:r>
            <a:endParaRPr b="0" i="0" sz="1600" u="none" cap="none" strike="noStrike">
              <a:solidFill>
                <a:schemeClr val="dk1"/>
              </a:solidFill>
              <a:latin typeface="Calibri"/>
              <a:ea typeface="Calibri"/>
              <a:cs typeface="Calibri"/>
              <a:sym typeface="Calibri"/>
            </a:endParaRPr>
          </a:p>
        </p:txBody>
      </p:sp>
      <p:pic>
        <p:nvPicPr>
          <p:cNvPr descr="preencoded.png" id="71" name="Google Shape;71;p5"/>
          <p:cNvPicPr preferRelativeResize="0"/>
          <p:nvPr/>
        </p:nvPicPr>
        <p:blipFill rotWithShape="1">
          <a:blip r:embed="rId3">
            <a:alphaModFix/>
          </a:blip>
          <a:srcRect b="0" l="0" r="0" t="0"/>
          <a:stretch/>
        </p:blipFill>
        <p:spPr>
          <a:xfrm>
            <a:off x="548640" y="1508760"/>
            <a:ext cx="4480560" cy="3300984"/>
          </a:xfrm>
          <a:prstGeom prst="rect">
            <a:avLst/>
          </a:prstGeom>
          <a:noFill/>
          <a:ln>
            <a:noFill/>
          </a:ln>
          <a:effectLst>
            <a:outerShdw blurRad="177800" rotWithShape="0" algn="bl" dir="5400000" dist="50800">
              <a:srgbClr val="000000">
                <a:alpha val="27843"/>
              </a:srgbClr>
            </a:outerShdw>
          </a:effectLst>
        </p:spPr>
      </p:pic>
      <p:sp>
        <p:nvSpPr>
          <p:cNvPr id="72" name="Google Shape;72;p5"/>
          <p:cNvSpPr/>
          <p:nvPr/>
        </p:nvSpPr>
        <p:spPr>
          <a:xfrm rot="-300000">
            <a:off x="5532120" y="1691640"/>
            <a:ext cx="2331720" cy="438912"/>
          </a:xfrm>
          <a:prstGeom prst="roundRect">
            <a:avLst>
              <a:gd fmla="val 16667" name="adj"/>
            </a:avLst>
          </a:prstGeom>
          <a:solidFill>
            <a:srgbClr val="FFFFFF"/>
          </a:solidFill>
          <a:ln cap="flat" cmpd="sng" w="31750">
            <a:solidFill>
              <a:srgbClr val="18733A"/>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8733A"/>
              </a:buClr>
              <a:buSzPts val="1500"/>
              <a:buFont typeface="Arial"/>
              <a:buNone/>
            </a:pPr>
            <a:r>
              <a:rPr b="1" i="0" lang="en-US" sz="1500" u="none" cap="none" strike="noStrike">
                <a:solidFill>
                  <a:srgbClr val="18733A"/>
                </a:solidFill>
                <a:latin typeface="Arial"/>
                <a:ea typeface="Arial"/>
                <a:cs typeface="Arial"/>
                <a:sym typeface="Arial"/>
              </a:rPr>
              <a:t>VA BENE</a:t>
            </a:r>
            <a:endParaRPr b="0" i="0" sz="1500" u="none" cap="none" strike="noStrike">
              <a:solidFill>
                <a:schemeClr val="dk1"/>
              </a:solidFill>
              <a:latin typeface="Calibri"/>
              <a:ea typeface="Calibri"/>
              <a:cs typeface="Calibri"/>
              <a:sym typeface="Calibri"/>
            </a:endParaRPr>
          </a:p>
        </p:txBody>
      </p:sp>
      <p:sp>
        <p:nvSpPr>
          <p:cNvPr id="73" name="Google Shape;73;p5"/>
          <p:cNvSpPr txBox="1"/>
          <p:nvPr/>
        </p:nvSpPr>
        <p:spPr>
          <a:xfrm>
            <a:off x="5532120" y="2240280"/>
            <a:ext cx="31089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400"/>
              <a:buFont typeface="Arial"/>
              <a:buNone/>
            </a:pPr>
            <a:r>
              <a:rPr b="0" i="0" lang="en-US" sz="1400" u="none" cap="none" strike="noStrike">
                <a:solidFill>
                  <a:srgbClr val="15171A"/>
                </a:solidFill>
                <a:latin typeface="Arial"/>
                <a:ea typeface="Arial"/>
                <a:cs typeface="Arial"/>
                <a:sym typeface="Arial"/>
              </a:rPr>
              <a:t>Documento completo</a:t>
            </a:r>
            <a:endParaRPr b="0" i="0" sz="1400" u="none" cap="none" strike="noStrike">
              <a:solidFill>
                <a:schemeClr val="dk1"/>
              </a:solidFill>
              <a:latin typeface="Calibri"/>
              <a:ea typeface="Calibri"/>
              <a:cs typeface="Calibri"/>
              <a:sym typeface="Calibri"/>
            </a:endParaRPr>
          </a:p>
        </p:txBody>
      </p:sp>
      <p:sp>
        <p:nvSpPr>
          <p:cNvPr id="74" name="Google Shape;74;p5"/>
          <p:cNvSpPr/>
          <p:nvPr/>
        </p:nvSpPr>
        <p:spPr>
          <a:xfrm rot="-300000">
            <a:off x="5532120" y="2715768"/>
            <a:ext cx="2331720" cy="438912"/>
          </a:xfrm>
          <a:prstGeom prst="roundRect">
            <a:avLst>
              <a:gd fmla="val 16667" name="adj"/>
            </a:avLst>
          </a:prstGeom>
          <a:solidFill>
            <a:srgbClr val="FFFFFF"/>
          </a:solidFill>
          <a:ln cap="flat" cmpd="sng" w="31750">
            <a:solidFill>
              <a:srgbClr val="A50E2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A50E2B"/>
              </a:buClr>
              <a:buSzPts val="1500"/>
              <a:buFont typeface="Arial"/>
              <a:buNone/>
            </a:pPr>
            <a:r>
              <a:rPr b="1" i="0" lang="en-US" sz="1500" u="none" cap="none" strike="noStrike">
                <a:solidFill>
                  <a:srgbClr val="A50E2B"/>
                </a:solidFill>
                <a:latin typeface="Arial"/>
                <a:ea typeface="Arial"/>
                <a:cs typeface="Arial"/>
                <a:sym typeface="Arial"/>
              </a:rPr>
              <a:t>MANCANO PAGINE</a:t>
            </a:r>
            <a:endParaRPr b="0" i="0" sz="1500" u="none" cap="none" strike="noStrike">
              <a:solidFill>
                <a:schemeClr val="dk1"/>
              </a:solidFill>
              <a:latin typeface="Calibri"/>
              <a:ea typeface="Calibri"/>
              <a:cs typeface="Calibri"/>
              <a:sym typeface="Calibri"/>
            </a:endParaRPr>
          </a:p>
        </p:txBody>
      </p:sp>
      <p:sp>
        <p:nvSpPr>
          <p:cNvPr id="75" name="Google Shape;75;p5"/>
          <p:cNvSpPr txBox="1"/>
          <p:nvPr/>
        </p:nvSpPr>
        <p:spPr>
          <a:xfrm>
            <a:off x="5532120" y="3264408"/>
            <a:ext cx="31089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400"/>
              <a:buFont typeface="Arial"/>
              <a:buNone/>
            </a:pPr>
            <a:r>
              <a:rPr b="0" i="0" lang="en-US" sz="1400" u="none" cap="none" strike="noStrike">
                <a:solidFill>
                  <a:srgbClr val="15171A"/>
                </a:solidFill>
                <a:latin typeface="Arial"/>
                <a:ea typeface="Arial"/>
                <a:cs typeface="Arial"/>
                <a:sym typeface="Arial"/>
              </a:rPr>
              <a:t>Claude legge "pagina 5 di 7"</a:t>
            </a:r>
            <a:endParaRPr b="0" i="0" sz="1400" u="none" cap="none" strike="noStrike">
              <a:solidFill>
                <a:schemeClr val="dk1"/>
              </a:solidFill>
              <a:latin typeface="Calibri"/>
              <a:ea typeface="Calibri"/>
              <a:cs typeface="Calibri"/>
              <a:sym typeface="Calibri"/>
            </a:endParaRPr>
          </a:p>
        </p:txBody>
      </p:sp>
      <p:sp>
        <p:nvSpPr>
          <p:cNvPr id="76" name="Google Shape;76;p5"/>
          <p:cNvSpPr/>
          <p:nvPr/>
        </p:nvSpPr>
        <p:spPr>
          <a:xfrm rot="-300000">
            <a:off x="5532120" y="3739896"/>
            <a:ext cx="2331720" cy="438912"/>
          </a:xfrm>
          <a:prstGeom prst="roundRect">
            <a:avLst>
              <a:gd fmla="val 16667" name="adj"/>
            </a:avLst>
          </a:prstGeom>
          <a:solidFill>
            <a:srgbClr val="FFFFFF"/>
          </a:solidFill>
          <a:ln cap="flat" cmpd="sng" w="31750">
            <a:solidFill>
              <a:srgbClr val="9A62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9A6200"/>
              </a:buClr>
              <a:buSzPts val="1500"/>
              <a:buFont typeface="Arial"/>
              <a:buNone/>
            </a:pPr>
            <a:r>
              <a:rPr b="1" i="0" lang="en-US" sz="1500" u="none" cap="none" strike="noStrike">
                <a:solidFill>
                  <a:srgbClr val="9A6200"/>
                </a:solidFill>
                <a:latin typeface="Arial"/>
                <a:ea typeface="Arial"/>
                <a:cs typeface="Arial"/>
                <a:sym typeface="Arial"/>
              </a:rPr>
              <a:t>MANCA LA FRASE</a:t>
            </a:r>
            <a:endParaRPr b="0" i="0" sz="1500" u="none" cap="none" strike="noStrike">
              <a:solidFill>
                <a:schemeClr val="dk1"/>
              </a:solidFill>
              <a:latin typeface="Calibri"/>
              <a:ea typeface="Calibri"/>
              <a:cs typeface="Calibri"/>
              <a:sym typeface="Calibri"/>
            </a:endParaRPr>
          </a:p>
        </p:txBody>
      </p:sp>
      <p:sp>
        <p:nvSpPr>
          <p:cNvPr id="77" name="Google Shape;77;p5"/>
          <p:cNvSpPr txBox="1"/>
          <p:nvPr/>
        </p:nvSpPr>
        <p:spPr>
          <a:xfrm>
            <a:off x="5532120" y="4288536"/>
            <a:ext cx="31089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400"/>
              <a:buFont typeface="Arial"/>
              <a:buNone/>
            </a:pPr>
            <a:r>
              <a:rPr b="0" i="0" lang="en-US" sz="1400" u="none" cap="none" strike="noStrike">
                <a:solidFill>
                  <a:srgbClr val="15171A"/>
                </a:solidFill>
                <a:latin typeface="Arial"/>
                <a:ea typeface="Arial"/>
                <a:cs typeface="Arial"/>
                <a:sym typeface="Arial"/>
              </a:rPr>
              <a:t>Il certificato del medico non basta</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AD8"/>
        </a:solidFill>
      </p:bgPr>
    </p:bg>
    <p:spTree>
      <p:nvGrpSpPr>
        <p:cNvPr id="82" name="Shape 82"/>
        <p:cNvGrpSpPr/>
        <p:nvPr/>
      </p:nvGrpSpPr>
      <p:grpSpPr>
        <a:xfrm>
          <a:off x="0" y="0"/>
          <a:ext cx="0" cy="0"/>
          <a:chOff x="0" y="0"/>
          <a:chExt cx="0" cy="0"/>
        </a:xfrm>
      </p:grpSpPr>
      <p:sp>
        <p:nvSpPr>
          <p:cNvPr id="83" name="Google Shape;83;h1c30e251418f18d3_1_10"/>
          <p:cNvSpPr txBox="1"/>
          <p:nvPr/>
        </p:nvSpPr>
        <p:spPr>
          <a:xfrm>
            <a:off x="548640" y="384048"/>
            <a:ext cx="8046600" cy="56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3000"/>
              <a:buFont typeface="Arial"/>
              <a:buNone/>
            </a:pPr>
            <a:r>
              <a:rPr b="1" lang="en-US" sz="3000">
                <a:solidFill>
                  <a:srgbClr val="15171A"/>
                </a:solidFill>
              </a:rPr>
              <a:t>Come funziona</a:t>
            </a:r>
            <a:endParaRPr b="0" i="0" sz="3000" u="none" cap="none" strike="noStrike">
              <a:solidFill>
                <a:schemeClr val="dk1"/>
              </a:solidFill>
              <a:latin typeface="Calibri"/>
              <a:ea typeface="Calibri"/>
              <a:cs typeface="Calibri"/>
              <a:sym typeface="Calibri"/>
            </a:endParaRPr>
          </a:p>
        </p:txBody>
      </p:sp>
      <p:pic>
        <p:nvPicPr>
          <p:cNvPr id="84" name="Google Shape;84;h1c30e251418f18d3_1_10" title="Screenshot 2026-10-03 at 15.22.25.png"/>
          <p:cNvPicPr preferRelativeResize="0"/>
          <p:nvPr/>
        </p:nvPicPr>
        <p:blipFill rotWithShape="1">
          <a:blip r:embed="rId3">
            <a:alphaModFix/>
          </a:blip>
          <a:srcRect b="0" l="6578" r="5825" t="21185"/>
          <a:stretch/>
        </p:blipFill>
        <p:spPr>
          <a:xfrm>
            <a:off x="63540" y="1372550"/>
            <a:ext cx="9050173" cy="29900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AD8"/>
        </a:solidFill>
      </p:bgPr>
    </p:bg>
    <p:spTree>
      <p:nvGrpSpPr>
        <p:cNvPr id="89" name="Shape 89"/>
        <p:cNvGrpSpPr/>
        <p:nvPr/>
      </p:nvGrpSpPr>
      <p:grpSpPr>
        <a:xfrm>
          <a:off x="0" y="0"/>
          <a:ext cx="0" cy="0"/>
          <a:chOff x="0" y="0"/>
          <a:chExt cx="0" cy="0"/>
        </a:xfrm>
      </p:grpSpPr>
      <p:sp>
        <p:nvSpPr>
          <p:cNvPr id="90" name="Google Shape;90;h1c30e251418f18d3_2_2"/>
          <p:cNvSpPr txBox="1"/>
          <p:nvPr/>
        </p:nvSpPr>
        <p:spPr>
          <a:xfrm>
            <a:off x="548640" y="384048"/>
            <a:ext cx="8046600" cy="56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3000"/>
              <a:buFont typeface="Arial"/>
              <a:buNone/>
            </a:pPr>
            <a:r>
              <a:rPr b="1" lang="en-US" sz="3000">
                <a:solidFill>
                  <a:srgbClr val="15171A"/>
                </a:solidFill>
              </a:rPr>
              <a:t>Come funziona</a:t>
            </a:r>
            <a:endParaRPr b="0" i="0" sz="3000" u="none" cap="none" strike="noStrike">
              <a:solidFill>
                <a:schemeClr val="dk1"/>
              </a:solidFill>
              <a:latin typeface="Calibri"/>
              <a:ea typeface="Calibri"/>
              <a:cs typeface="Calibri"/>
              <a:sym typeface="Calibri"/>
            </a:endParaRPr>
          </a:p>
        </p:txBody>
      </p:sp>
      <p:pic>
        <p:nvPicPr>
          <p:cNvPr id="91" name="Google Shape;91;h1c30e251418f18d3_2_2" title="sportello-amico-demo.mp4">
            <a:hlinkClick r:id="rId3"/>
          </p:cNvPr>
          <p:cNvPicPr preferRelativeResize="0"/>
          <p:nvPr/>
        </p:nvPicPr>
        <p:blipFill>
          <a:blip r:embed="rId4">
            <a:alphaModFix/>
          </a:blip>
          <a:stretch>
            <a:fillRect/>
          </a:stretch>
        </p:blipFill>
        <p:spPr>
          <a:xfrm>
            <a:off x="1116050" y="902275"/>
            <a:ext cx="7160397" cy="4027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AD8"/>
        </a:solidFill>
      </p:bgPr>
    </p:bg>
    <p:spTree>
      <p:nvGrpSpPr>
        <p:cNvPr id="96" name="Shape 96"/>
        <p:cNvGrpSpPr/>
        <p:nvPr/>
      </p:nvGrpSpPr>
      <p:grpSpPr>
        <a:xfrm>
          <a:off x="0" y="0"/>
          <a:ext cx="0" cy="0"/>
          <a:chOff x="0" y="0"/>
          <a:chExt cx="0" cy="0"/>
        </a:xfrm>
      </p:grpSpPr>
      <p:sp>
        <p:nvSpPr>
          <p:cNvPr id="97" name="Google Shape;97;p6"/>
          <p:cNvSpPr txBox="1"/>
          <p:nvPr/>
        </p:nvSpPr>
        <p:spPr>
          <a:xfrm>
            <a:off x="548640" y="384048"/>
            <a:ext cx="804672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3000"/>
              <a:buFont typeface="Arial"/>
              <a:buNone/>
            </a:pPr>
            <a:r>
              <a:rPr b="1" i="0" lang="en-US" sz="3000" u="none" cap="none" strike="noStrike">
                <a:solidFill>
                  <a:srgbClr val="15171A"/>
                </a:solidFill>
                <a:latin typeface="Arial"/>
                <a:ea typeface="Arial"/>
                <a:cs typeface="Arial"/>
                <a:sym typeface="Arial"/>
              </a:rPr>
              <a:t>Ti guida fino all'invio</a:t>
            </a:r>
            <a:endParaRPr b="0" i="0" sz="3000" u="none" cap="none" strike="noStrike">
              <a:solidFill>
                <a:schemeClr val="dk1"/>
              </a:solidFill>
              <a:latin typeface="Calibri"/>
              <a:ea typeface="Calibri"/>
              <a:cs typeface="Calibri"/>
              <a:sym typeface="Calibri"/>
            </a:endParaRPr>
          </a:p>
        </p:txBody>
      </p:sp>
      <p:sp>
        <p:nvSpPr>
          <p:cNvPr id="98" name="Google Shape;98;p6"/>
          <p:cNvSpPr txBox="1"/>
          <p:nvPr/>
        </p:nvSpPr>
        <p:spPr>
          <a:xfrm>
            <a:off x="5669280" y="1234440"/>
            <a:ext cx="29260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2000"/>
              <a:buFont typeface="Arial"/>
              <a:buNone/>
            </a:pPr>
            <a:r>
              <a:rPr b="1" i="0" lang="en-US" sz="2000" u="none" cap="none" strike="noStrike">
                <a:solidFill>
                  <a:srgbClr val="15171A"/>
                </a:solidFill>
                <a:latin typeface="Arial"/>
                <a:ea typeface="Arial"/>
                <a:cs typeface="Arial"/>
                <a:sym typeface="Arial"/>
              </a:rPr>
              <a:t>Prova generale</a:t>
            </a:r>
            <a:endParaRPr b="0" i="0" sz="2000" u="none" cap="none" strike="noStrike">
              <a:solidFill>
                <a:schemeClr val="dk1"/>
              </a:solidFill>
              <a:latin typeface="Calibri"/>
              <a:ea typeface="Calibri"/>
              <a:cs typeface="Calibri"/>
              <a:sym typeface="Calibri"/>
            </a:endParaRPr>
          </a:p>
        </p:txBody>
      </p:sp>
      <p:sp>
        <p:nvSpPr>
          <p:cNvPr id="99" name="Google Shape;99;p6"/>
          <p:cNvSpPr txBox="1"/>
          <p:nvPr/>
        </p:nvSpPr>
        <p:spPr>
          <a:xfrm>
            <a:off x="5669280" y="1645920"/>
            <a:ext cx="29260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Claude confronta il riepilogo con la tua situazione</a:t>
            </a:r>
            <a:endParaRPr b="0" i="0" sz="1400" u="none" cap="none" strike="noStrike">
              <a:solidFill>
                <a:schemeClr val="dk1"/>
              </a:solidFill>
              <a:latin typeface="Calibri"/>
              <a:ea typeface="Calibri"/>
              <a:cs typeface="Calibri"/>
              <a:sym typeface="Calibri"/>
            </a:endParaRPr>
          </a:p>
        </p:txBody>
      </p:sp>
      <p:pic>
        <p:nvPicPr>
          <p:cNvPr descr="preencoded.png" id="100" name="Google Shape;100;p6"/>
          <p:cNvPicPr preferRelativeResize="0"/>
          <p:nvPr/>
        </p:nvPicPr>
        <p:blipFill rotWithShape="1">
          <a:blip r:embed="rId3">
            <a:alphaModFix/>
          </a:blip>
          <a:srcRect b="0" l="0" r="0" t="0"/>
          <a:stretch/>
        </p:blipFill>
        <p:spPr>
          <a:xfrm>
            <a:off x="5669280" y="2331720"/>
            <a:ext cx="2926080" cy="896112"/>
          </a:xfrm>
          <a:prstGeom prst="rect">
            <a:avLst/>
          </a:prstGeom>
          <a:noFill/>
          <a:ln>
            <a:noFill/>
          </a:ln>
          <a:effectLst>
            <a:outerShdw blurRad="177800" rotWithShape="0" algn="bl" dir="5400000" dist="50800">
              <a:srgbClr val="000000">
                <a:alpha val="27843"/>
              </a:srgbClr>
            </a:outerShdw>
          </a:effectLst>
        </p:spPr>
      </p:pic>
      <p:sp>
        <p:nvSpPr>
          <p:cNvPr id="101" name="Google Shape;101;p6"/>
          <p:cNvSpPr txBox="1"/>
          <p:nvPr/>
        </p:nvSpPr>
        <p:spPr>
          <a:xfrm>
            <a:off x="5669280" y="3429000"/>
            <a:ext cx="292608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0E2B"/>
              </a:buClr>
              <a:buSzPts val="1600"/>
              <a:buFont typeface="Arial"/>
              <a:buNone/>
            </a:pPr>
            <a:r>
              <a:rPr b="1" i="0" lang="en-US" sz="1600" u="none" cap="none" strike="noStrike">
                <a:solidFill>
                  <a:srgbClr val="A50E2B"/>
                </a:solidFill>
                <a:latin typeface="Arial"/>
                <a:ea typeface="Arial"/>
                <a:cs typeface="Arial"/>
                <a:sym typeface="Arial"/>
              </a:rPr>
              <a:t>3 errori trovati prima dell'invio</a:t>
            </a:r>
            <a:endParaRPr b="0" i="0" sz="1600" u="none" cap="none" strike="noStrike">
              <a:solidFill>
                <a:schemeClr val="dk1"/>
              </a:solidFill>
              <a:latin typeface="Calibri"/>
              <a:ea typeface="Calibri"/>
              <a:cs typeface="Calibri"/>
              <a:sym typeface="Calibri"/>
            </a:endParaRPr>
          </a:p>
        </p:txBody>
      </p:sp>
      <p:pic>
        <p:nvPicPr>
          <p:cNvPr id="102" name="Google Shape;102;p6" title="Screenshot 2026-10-03 at 15.42.41.png"/>
          <p:cNvPicPr preferRelativeResize="0"/>
          <p:nvPr/>
        </p:nvPicPr>
        <p:blipFill>
          <a:blip r:embed="rId4">
            <a:alphaModFix/>
          </a:blip>
          <a:stretch>
            <a:fillRect/>
          </a:stretch>
        </p:blipFill>
        <p:spPr>
          <a:xfrm>
            <a:off x="548650" y="910325"/>
            <a:ext cx="3904198" cy="4090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CD8"/>
        </a:solidFill>
      </p:bgPr>
    </p:bg>
    <p:spTree>
      <p:nvGrpSpPr>
        <p:cNvPr id="107" name="Shape 107"/>
        <p:cNvGrpSpPr/>
        <p:nvPr/>
      </p:nvGrpSpPr>
      <p:grpSpPr>
        <a:xfrm>
          <a:off x="0" y="0"/>
          <a:ext cx="0" cy="0"/>
          <a:chOff x="0" y="0"/>
          <a:chExt cx="0" cy="0"/>
        </a:xfrm>
      </p:grpSpPr>
      <p:sp>
        <p:nvSpPr>
          <p:cNvPr id="108" name="Google Shape;108;p7"/>
          <p:cNvSpPr/>
          <p:nvPr/>
        </p:nvSpPr>
        <p:spPr>
          <a:xfrm>
            <a:off x="685800" y="274320"/>
            <a:ext cx="2606040" cy="4617720"/>
          </a:xfrm>
          <a:prstGeom prst="roundRect">
            <a:avLst>
              <a:gd fmla="val 9825" name="adj"/>
            </a:avLst>
          </a:prstGeom>
          <a:solidFill>
            <a:srgbClr val="15171A"/>
          </a:solidFill>
          <a:ln cap="flat" cmpd="sng" w="12700">
            <a:solidFill>
              <a:srgbClr val="1517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txBox="1"/>
          <p:nvPr/>
        </p:nvSpPr>
        <p:spPr>
          <a:xfrm>
            <a:off x="3840480" y="457200"/>
            <a:ext cx="484632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3000"/>
              <a:buFont typeface="Arial"/>
              <a:buNone/>
            </a:pPr>
            <a:r>
              <a:rPr b="1" i="0" lang="en-US" sz="3000" u="none" cap="none" strike="noStrike">
                <a:solidFill>
                  <a:srgbClr val="15171A"/>
                </a:solidFill>
                <a:latin typeface="Arial"/>
                <a:ea typeface="Arial"/>
                <a:cs typeface="Arial"/>
                <a:sym typeface="Arial"/>
              </a:rPr>
              <a:t>Facile anche a 80 anni</a:t>
            </a:r>
            <a:endParaRPr b="0" i="0" sz="3000" u="none" cap="none" strike="noStrike">
              <a:solidFill>
                <a:schemeClr val="dk1"/>
              </a:solidFill>
              <a:latin typeface="Calibri"/>
              <a:ea typeface="Calibri"/>
              <a:cs typeface="Calibri"/>
              <a:sym typeface="Calibri"/>
            </a:endParaRPr>
          </a:p>
        </p:txBody>
      </p:sp>
      <p:sp>
        <p:nvSpPr>
          <p:cNvPr id="110" name="Google Shape;110;p7"/>
          <p:cNvSpPr/>
          <p:nvPr/>
        </p:nvSpPr>
        <p:spPr>
          <a:xfrm>
            <a:off x="3840480" y="1325880"/>
            <a:ext cx="548640" cy="54864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1" name="Google Shape;111;p7"/>
          <p:cNvPicPr preferRelativeResize="0"/>
          <p:nvPr/>
        </p:nvPicPr>
        <p:blipFill rotWithShape="1">
          <a:blip r:embed="rId3">
            <a:alphaModFix/>
          </a:blip>
          <a:srcRect b="0" l="0" r="0" t="0"/>
          <a:stretch/>
        </p:blipFill>
        <p:spPr>
          <a:xfrm>
            <a:off x="3983126" y="1468526"/>
            <a:ext cx="263347" cy="263347"/>
          </a:xfrm>
          <a:prstGeom prst="rect">
            <a:avLst/>
          </a:prstGeom>
          <a:noFill/>
          <a:ln>
            <a:noFill/>
          </a:ln>
        </p:spPr>
      </p:pic>
      <p:sp>
        <p:nvSpPr>
          <p:cNvPr id="112" name="Google Shape;112;p7"/>
          <p:cNvSpPr txBox="1"/>
          <p:nvPr/>
        </p:nvSpPr>
        <p:spPr>
          <a:xfrm>
            <a:off x="4617720" y="1307592"/>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800"/>
              <a:buFont typeface="Arial"/>
              <a:buNone/>
            </a:pPr>
            <a:r>
              <a:rPr b="1" i="0" lang="en-US" sz="1800" u="none" cap="none" strike="noStrike">
                <a:solidFill>
                  <a:srgbClr val="15171A"/>
                </a:solidFill>
                <a:latin typeface="Arial"/>
                <a:ea typeface="Arial"/>
                <a:cs typeface="Arial"/>
                <a:sym typeface="Arial"/>
              </a:rPr>
              <a:t>Risponde a voce</a:t>
            </a:r>
            <a:endParaRPr b="0" i="0" sz="1800" u="none" cap="none" strike="noStrike">
              <a:solidFill>
                <a:schemeClr val="dk1"/>
              </a:solidFill>
              <a:latin typeface="Calibri"/>
              <a:ea typeface="Calibri"/>
              <a:cs typeface="Calibri"/>
              <a:sym typeface="Calibri"/>
            </a:endParaRPr>
          </a:p>
        </p:txBody>
      </p:sp>
      <p:sp>
        <p:nvSpPr>
          <p:cNvPr id="113" name="Google Shape;113;p7"/>
          <p:cNvSpPr txBox="1"/>
          <p:nvPr/>
        </p:nvSpPr>
        <p:spPr>
          <a:xfrm>
            <a:off x="4617720" y="165506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300"/>
              <a:buFont typeface="Arial"/>
              <a:buNone/>
            </a:pPr>
            <a:r>
              <a:rPr b="0" i="0" lang="en-US" sz="1300" u="none" cap="none" strike="noStrike">
                <a:solidFill>
                  <a:srgbClr val="6B7280"/>
                </a:solidFill>
                <a:latin typeface="Arial"/>
                <a:ea typeface="Arial"/>
                <a:cs typeface="Arial"/>
                <a:sym typeface="Arial"/>
              </a:rPr>
              <a:t>«Mia mamma», «rinnovo»: basta dirlo</a:t>
            </a:r>
            <a:endParaRPr b="0" i="0" sz="1300" u="none" cap="none" strike="noStrike">
              <a:solidFill>
                <a:schemeClr val="dk1"/>
              </a:solidFill>
              <a:latin typeface="Calibri"/>
              <a:ea typeface="Calibri"/>
              <a:cs typeface="Calibri"/>
              <a:sym typeface="Calibri"/>
            </a:endParaRPr>
          </a:p>
        </p:txBody>
      </p:sp>
      <p:sp>
        <p:nvSpPr>
          <p:cNvPr id="114" name="Google Shape;114;p7"/>
          <p:cNvSpPr/>
          <p:nvPr/>
        </p:nvSpPr>
        <p:spPr>
          <a:xfrm>
            <a:off x="3840480" y="2194560"/>
            <a:ext cx="548640" cy="54864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5" name="Google Shape;115;p7"/>
          <p:cNvPicPr preferRelativeResize="0"/>
          <p:nvPr/>
        </p:nvPicPr>
        <p:blipFill rotWithShape="1">
          <a:blip r:embed="rId4">
            <a:alphaModFix/>
          </a:blip>
          <a:srcRect b="0" l="0" r="0" t="0"/>
          <a:stretch/>
        </p:blipFill>
        <p:spPr>
          <a:xfrm>
            <a:off x="3983126" y="2337206"/>
            <a:ext cx="263347" cy="263347"/>
          </a:xfrm>
          <a:prstGeom prst="rect">
            <a:avLst/>
          </a:prstGeom>
          <a:noFill/>
          <a:ln>
            <a:noFill/>
          </a:ln>
        </p:spPr>
      </p:pic>
      <p:sp>
        <p:nvSpPr>
          <p:cNvPr id="116" name="Google Shape;116;p7"/>
          <p:cNvSpPr txBox="1"/>
          <p:nvPr/>
        </p:nvSpPr>
        <p:spPr>
          <a:xfrm>
            <a:off x="4617720" y="2176272"/>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800"/>
              <a:buFont typeface="Arial"/>
              <a:buNone/>
            </a:pPr>
            <a:r>
              <a:rPr b="1" i="0" lang="en-US" sz="1800" u="none" cap="none" strike="noStrike">
                <a:solidFill>
                  <a:srgbClr val="15171A"/>
                </a:solidFill>
                <a:latin typeface="Arial"/>
                <a:ea typeface="Arial"/>
                <a:cs typeface="Arial"/>
                <a:sym typeface="Arial"/>
              </a:rPr>
              <a:t>Legge ad alta voce</a:t>
            </a:r>
            <a:endParaRPr b="0" i="0" sz="1800" u="none" cap="none" strike="noStrike">
              <a:solidFill>
                <a:schemeClr val="dk1"/>
              </a:solidFill>
              <a:latin typeface="Calibri"/>
              <a:ea typeface="Calibri"/>
              <a:cs typeface="Calibri"/>
              <a:sym typeface="Calibri"/>
            </a:endParaRPr>
          </a:p>
        </p:txBody>
      </p:sp>
      <p:sp>
        <p:nvSpPr>
          <p:cNvPr id="117" name="Google Shape;117;p7"/>
          <p:cNvSpPr txBox="1"/>
          <p:nvPr/>
        </p:nvSpPr>
        <p:spPr>
          <a:xfrm>
            <a:off x="4617720" y="252374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300"/>
              <a:buFont typeface="Arial"/>
              <a:buNone/>
            </a:pPr>
            <a:r>
              <a:rPr b="0" i="0" lang="en-US" sz="1300" u="none" cap="none" strike="noStrike">
                <a:solidFill>
                  <a:srgbClr val="6B7280"/>
                </a:solidFill>
                <a:latin typeface="Arial"/>
                <a:ea typeface="Arial"/>
                <a:cs typeface="Arial"/>
                <a:sym typeface="Arial"/>
              </a:rPr>
              <a:t>Ogni messaggio, in italiano semplice</a:t>
            </a:r>
            <a:endParaRPr b="0" i="0" sz="1300" u="none" cap="none" strike="noStrike">
              <a:solidFill>
                <a:schemeClr val="dk1"/>
              </a:solidFill>
              <a:latin typeface="Calibri"/>
              <a:ea typeface="Calibri"/>
              <a:cs typeface="Calibri"/>
              <a:sym typeface="Calibri"/>
            </a:endParaRPr>
          </a:p>
        </p:txBody>
      </p:sp>
      <p:sp>
        <p:nvSpPr>
          <p:cNvPr id="118" name="Google Shape;118;p7"/>
          <p:cNvSpPr/>
          <p:nvPr/>
        </p:nvSpPr>
        <p:spPr>
          <a:xfrm>
            <a:off x="3840480" y="3063240"/>
            <a:ext cx="548640" cy="54864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9" name="Google Shape;119;p7"/>
          <p:cNvPicPr preferRelativeResize="0"/>
          <p:nvPr/>
        </p:nvPicPr>
        <p:blipFill rotWithShape="1">
          <a:blip r:embed="rId5">
            <a:alphaModFix/>
          </a:blip>
          <a:srcRect b="0" l="0" r="0" t="0"/>
          <a:stretch/>
        </p:blipFill>
        <p:spPr>
          <a:xfrm>
            <a:off x="3983126" y="3205886"/>
            <a:ext cx="263347" cy="263347"/>
          </a:xfrm>
          <a:prstGeom prst="rect">
            <a:avLst/>
          </a:prstGeom>
          <a:noFill/>
          <a:ln>
            <a:noFill/>
          </a:ln>
        </p:spPr>
      </p:pic>
      <p:sp>
        <p:nvSpPr>
          <p:cNvPr id="120" name="Google Shape;120;p7"/>
          <p:cNvSpPr txBox="1"/>
          <p:nvPr/>
        </p:nvSpPr>
        <p:spPr>
          <a:xfrm>
            <a:off x="4617720" y="3044952"/>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800"/>
              <a:buFont typeface="Arial"/>
              <a:buNone/>
            </a:pPr>
            <a:r>
              <a:rPr b="1" i="0" lang="en-US" sz="1800" u="none" cap="none" strike="noStrike">
                <a:solidFill>
                  <a:srgbClr val="15171A"/>
                </a:solidFill>
                <a:latin typeface="Arial"/>
                <a:ea typeface="Arial"/>
                <a:cs typeface="Arial"/>
                <a:sym typeface="Arial"/>
              </a:rPr>
              <a:t>Oggetti familiari</a:t>
            </a:r>
            <a:endParaRPr b="0" i="0" sz="1800" u="none" cap="none" strike="noStrike">
              <a:solidFill>
                <a:schemeClr val="dk1"/>
              </a:solidFill>
              <a:latin typeface="Calibri"/>
              <a:ea typeface="Calibri"/>
              <a:cs typeface="Calibri"/>
              <a:sym typeface="Calibri"/>
            </a:endParaRPr>
          </a:p>
        </p:txBody>
      </p:sp>
      <p:sp>
        <p:nvSpPr>
          <p:cNvPr id="121" name="Google Shape;121;p7"/>
          <p:cNvSpPr txBox="1"/>
          <p:nvPr/>
        </p:nvSpPr>
        <p:spPr>
          <a:xfrm>
            <a:off x="4617720" y="339242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300"/>
              <a:buFont typeface="Arial"/>
              <a:buNone/>
            </a:pPr>
            <a:r>
              <a:rPr b="0" i="0" lang="en-US" sz="1300" u="none" cap="none" strike="noStrike">
                <a:solidFill>
                  <a:srgbClr val="6B7280"/>
                </a:solidFill>
                <a:latin typeface="Arial"/>
                <a:ea typeface="Arial"/>
                <a:cs typeface="Arial"/>
                <a:sym typeface="Arial"/>
              </a:rPr>
              <a:t>Busta, fogli e timbri al posto dei moduli</a:t>
            </a:r>
            <a:endParaRPr b="0" i="0" sz="1300" u="none" cap="none" strike="noStrike">
              <a:solidFill>
                <a:schemeClr val="dk1"/>
              </a:solidFill>
              <a:latin typeface="Calibri"/>
              <a:ea typeface="Calibri"/>
              <a:cs typeface="Calibri"/>
              <a:sym typeface="Calibri"/>
            </a:endParaRPr>
          </a:p>
        </p:txBody>
      </p:sp>
      <p:sp>
        <p:nvSpPr>
          <p:cNvPr id="122" name="Google Shape;122;p7"/>
          <p:cNvSpPr/>
          <p:nvPr/>
        </p:nvSpPr>
        <p:spPr>
          <a:xfrm>
            <a:off x="3840480" y="3931920"/>
            <a:ext cx="548640" cy="54864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3" name="Google Shape;123;p7"/>
          <p:cNvPicPr preferRelativeResize="0"/>
          <p:nvPr/>
        </p:nvPicPr>
        <p:blipFill rotWithShape="1">
          <a:blip r:embed="rId6">
            <a:alphaModFix/>
          </a:blip>
          <a:srcRect b="0" l="0" r="0" t="0"/>
          <a:stretch/>
        </p:blipFill>
        <p:spPr>
          <a:xfrm>
            <a:off x="3983126" y="4074566"/>
            <a:ext cx="263347" cy="263347"/>
          </a:xfrm>
          <a:prstGeom prst="rect">
            <a:avLst/>
          </a:prstGeom>
          <a:noFill/>
          <a:ln>
            <a:noFill/>
          </a:ln>
        </p:spPr>
      </p:pic>
      <p:sp>
        <p:nvSpPr>
          <p:cNvPr id="124" name="Google Shape;124;p7"/>
          <p:cNvSpPr txBox="1"/>
          <p:nvPr/>
        </p:nvSpPr>
        <p:spPr>
          <a:xfrm>
            <a:off x="4617720" y="3913632"/>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800"/>
              <a:buFont typeface="Arial"/>
              <a:buNone/>
            </a:pPr>
            <a:r>
              <a:rPr b="1" i="0" lang="en-US" sz="1800" u="none" cap="none" strike="noStrike">
                <a:solidFill>
                  <a:srgbClr val="15171A"/>
                </a:solidFill>
                <a:latin typeface="Arial"/>
                <a:ea typeface="Arial"/>
                <a:cs typeface="Arial"/>
                <a:sym typeface="Arial"/>
              </a:rPr>
              <a:t>Uffici vicino a casa</a:t>
            </a:r>
            <a:endParaRPr b="0" i="0" sz="1800" u="none" cap="none" strike="noStrike">
              <a:solidFill>
                <a:schemeClr val="dk1"/>
              </a:solidFill>
              <a:latin typeface="Calibri"/>
              <a:ea typeface="Calibri"/>
              <a:cs typeface="Calibri"/>
              <a:sym typeface="Calibri"/>
            </a:endParaRPr>
          </a:p>
        </p:txBody>
      </p:sp>
      <p:sp>
        <p:nvSpPr>
          <p:cNvPr id="125" name="Google Shape;125;p7"/>
          <p:cNvSpPr txBox="1"/>
          <p:nvPr/>
        </p:nvSpPr>
        <p:spPr>
          <a:xfrm>
            <a:off x="4617720" y="426110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300"/>
              <a:buFont typeface="Arial"/>
              <a:buNone/>
            </a:pPr>
            <a:r>
              <a:rPr b="0" i="0" lang="en-US" sz="1300" u="none" cap="none" strike="noStrike">
                <a:solidFill>
                  <a:srgbClr val="6B7280"/>
                </a:solidFill>
                <a:latin typeface="Arial"/>
                <a:ea typeface="Arial"/>
                <a:cs typeface="Arial"/>
                <a:sym typeface="Arial"/>
              </a:rPr>
              <a:t>65.218 indirizzi del Comune, con link per prenotare</a:t>
            </a:r>
            <a:endParaRPr b="0" i="0" sz="1300" u="none" cap="none" strike="noStrike">
              <a:solidFill>
                <a:schemeClr val="dk1"/>
              </a:solidFill>
              <a:latin typeface="Calibri"/>
              <a:ea typeface="Calibri"/>
              <a:cs typeface="Calibri"/>
              <a:sym typeface="Calibri"/>
            </a:endParaRPr>
          </a:p>
        </p:txBody>
      </p:sp>
      <p:pic>
        <p:nvPicPr>
          <p:cNvPr id="126" name="Google Shape;126;p7" title="Screenshot 2026-10-03 at 15.30.43.png"/>
          <p:cNvPicPr preferRelativeResize="0"/>
          <p:nvPr/>
        </p:nvPicPr>
        <p:blipFill>
          <a:blip r:embed="rId7">
            <a:alphaModFix/>
          </a:blip>
          <a:stretch>
            <a:fillRect/>
          </a:stretch>
        </p:blipFill>
        <p:spPr>
          <a:xfrm>
            <a:off x="807365" y="457200"/>
            <a:ext cx="2379574" cy="42177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CD8"/>
        </a:solidFill>
      </p:bgPr>
    </p:bg>
    <p:spTree>
      <p:nvGrpSpPr>
        <p:cNvPr id="131" name="Shape 131"/>
        <p:cNvGrpSpPr/>
        <p:nvPr/>
      </p:nvGrpSpPr>
      <p:grpSpPr>
        <a:xfrm>
          <a:off x="0" y="0"/>
          <a:ext cx="0" cy="0"/>
          <a:chOff x="0" y="0"/>
          <a:chExt cx="0" cy="0"/>
        </a:xfrm>
      </p:grpSpPr>
      <p:sp>
        <p:nvSpPr>
          <p:cNvPr id="132" name="Google Shape;132;p8"/>
          <p:cNvSpPr txBox="1"/>
          <p:nvPr/>
        </p:nvSpPr>
        <p:spPr>
          <a:xfrm>
            <a:off x="548640" y="384048"/>
            <a:ext cx="804672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2800"/>
              <a:buFont typeface="Arial"/>
              <a:buNone/>
            </a:pPr>
            <a:r>
              <a:rPr b="1" i="0" lang="en-US" sz="2800" u="none" cap="none" strike="noStrike">
                <a:solidFill>
                  <a:srgbClr val="15171A"/>
                </a:solidFill>
                <a:latin typeface="Arial"/>
                <a:ea typeface="Arial"/>
                <a:cs typeface="Arial"/>
                <a:sym typeface="Arial"/>
              </a:rPr>
              <a:t>Come funziona, dietro le quinte</a:t>
            </a:r>
            <a:endParaRPr b="0" i="0" sz="2800" u="none" cap="none" strike="noStrike">
              <a:solidFill>
                <a:schemeClr val="dk1"/>
              </a:solidFill>
              <a:latin typeface="Calibri"/>
              <a:ea typeface="Calibri"/>
              <a:cs typeface="Calibri"/>
              <a:sym typeface="Calibri"/>
            </a:endParaRPr>
          </a:p>
        </p:txBody>
      </p:sp>
      <p:sp>
        <p:nvSpPr>
          <p:cNvPr id="133" name="Google Shape;133;p8"/>
          <p:cNvSpPr/>
          <p:nvPr/>
        </p:nvSpPr>
        <p:spPr>
          <a:xfrm>
            <a:off x="548640" y="1115568"/>
            <a:ext cx="2487168" cy="2788920"/>
          </a:xfrm>
          <a:prstGeom prst="roundRect">
            <a:avLst>
              <a:gd fmla="val 2941" name="adj"/>
            </a:avLst>
          </a:prstGeom>
          <a:solidFill>
            <a:schemeClr val="lt1"/>
          </a:solidFill>
          <a:ln cap="flat" cmpd="sng" w="12700">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749808" y="1298448"/>
            <a:ext cx="457200" cy="45720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 name="Google Shape;135;p8"/>
          <p:cNvPicPr preferRelativeResize="0"/>
          <p:nvPr/>
        </p:nvPicPr>
        <p:blipFill rotWithShape="1">
          <a:blip r:embed="rId3">
            <a:alphaModFix/>
          </a:blip>
          <a:srcRect b="0" l="0" r="0" t="0"/>
          <a:stretch/>
        </p:blipFill>
        <p:spPr>
          <a:xfrm>
            <a:off x="868680" y="1417320"/>
            <a:ext cx="219456" cy="219456"/>
          </a:xfrm>
          <a:prstGeom prst="rect">
            <a:avLst/>
          </a:prstGeom>
          <a:noFill/>
          <a:ln>
            <a:noFill/>
          </a:ln>
        </p:spPr>
      </p:pic>
      <p:sp>
        <p:nvSpPr>
          <p:cNvPr id="136" name="Google Shape;136;p8"/>
          <p:cNvSpPr txBox="1"/>
          <p:nvPr/>
        </p:nvSpPr>
        <p:spPr>
          <a:xfrm>
            <a:off x="1325880" y="1280160"/>
            <a:ext cx="1572768"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500"/>
              <a:buFont typeface="Arial"/>
              <a:buNone/>
            </a:pPr>
            <a:r>
              <a:rPr b="1" i="0" lang="en-US" sz="1500" u="none" cap="none" strike="noStrike">
                <a:solidFill>
                  <a:srgbClr val="15171A"/>
                </a:solidFill>
                <a:latin typeface="Arial"/>
                <a:ea typeface="Arial"/>
                <a:cs typeface="Arial"/>
                <a:sym typeface="Arial"/>
              </a:rPr>
              <a:t>Telefono o PC</a:t>
            </a:r>
            <a:endParaRPr b="0" i="0" sz="1500" u="none" cap="none" strike="noStrike">
              <a:solidFill>
                <a:schemeClr val="dk1"/>
              </a:solidFill>
              <a:latin typeface="Calibri"/>
              <a:ea typeface="Calibri"/>
              <a:cs typeface="Calibri"/>
              <a:sym typeface="Calibri"/>
            </a:endParaRPr>
          </a:p>
        </p:txBody>
      </p:sp>
      <p:sp>
        <p:nvSpPr>
          <p:cNvPr id="137" name="Google Shape;137;p8"/>
          <p:cNvSpPr txBox="1"/>
          <p:nvPr/>
        </p:nvSpPr>
        <p:spPr>
          <a:xfrm>
            <a:off x="1325880" y="1554480"/>
            <a:ext cx="1572768"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50"/>
              <a:buFont typeface="Arial"/>
              <a:buNone/>
            </a:pPr>
            <a:r>
              <a:rPr b="0" i="0" lang="en-US" sz="950" u="none" cap="none" strike="noStrike">
                <a:solidFill>
                  <a:srgbClr val="6B7280"/>
                </a:solidFill>
                <a:latin typeface="Arial"/>
                <a:ea typeface="Arial"/>
                <a:cs typeface="Arial"/>
                <a:sym typeface="Arial"/>
              </a:rPr>
              <a:t>Browser, nessuna app da installare</a:t>
            </a:r>
            <a:endParaRPr b="0" i="0" sz="950" u="none" cap="none" strike="noStrike">
              <a:solidFill>
                <a:schemeClr val="dk1"/>
              </a:solidFill>
              <a:latin typeface="Calibri"/>
              <a:ea typeface="Calibri"/>
              <a:cs typeface="Calibri"/>
              <a:sym typeface="Calibri"/>
            </a:endParaRPr>
          </a:p>
        </p:txBody>
      </p:sp>
      <p:sp>
        <p:nvSpPr>
          <p:cNvPr id="138" name="Google Shape;138;p8"/>
          <p:cNvSpPr txBox="1"/>
          <p:nvPr/>
        </p:nvSpPr>
        <p:spPr>
          <a:xfrm>
            <a:off x="749808" y="1956816"/>
            <a:ext cx="2121408" cy="18745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5171A"/>
              </a:buClr>
              <a:buSzPts val="1050"/>
              <a:buFont typeface="Arial"/>
              <a:buChar char="•"/>
            </a:pPr>
            <a:r>
              <a:rPr b="0" i="0" lang="en-US" sz="1050" u="none" cap="none" strike="noStrike">
                <a:solidFill>
                  <a:srgbClr val="15171A"/>
                </a:solidFill>
                <a:latin typeface="Arial"/>
                <a:ea typeface="Arial"/>
                <a:cs typeface="Arial"/>
                <a:sym typeface="Arial"/>
              </a:rPr>
              <a:t>Chat con bottoni grandi, risposta a voce e lettura ad alta voce</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15171A"/>
              </a:buClr>
              <a:buSzPts val="1050"/>
              <a:buFont typeface="Arial"/>
              <a:buChar char="•"/>
            </a:pPr>
            <a:r>
              <a:rPr b="0" i="0" lang="en-US" sz="1050" u="none" cap="none" strike="noStrike">
                <a:solidFill>
                  <a:srgbClr val="15171A"/>
                </a:solidFill>
                <a:latin typeface="Arial"/>
                <a:ea typeface="Arial"/>
                <a:cs typeface="Arial"/>
                <a:sym typeface="Arial"/>
              </a:rPr>
              <a:t>Foto HEIC convertite in JPG; fototessera ritagliata a 35×45</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15171A"/>
              </a:buClr>
              <a:buSzPts val="1050"/>
              <a:buFont typeface="Arial"/>
              <a:buChar char="•"/>
            </a:pPr>
            <a:r>
              <a:rPr b="0" i="0" lang="en-US" sz="1050" u="none" cap="none" strike="noStrike">
                <a:solidFill>
                  <a:srgbClr val="15171A"/>
                </a:solidFill>
                <a:latin typeface="Arial"/>
                <a:ea typeface="Arial"/>
                <a:cs typeface="Arial"/>
                <a:sym typeface="Arial"/>
              </a:rPr>
              <a:t>Delega e lettera per il medico generate in PDF</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15171A"/>
              </a:buClr>
              <a:buSzPts val="1050"/>
              <a:buFont typeface="Arial"/>
              <a:buChar char="•"/>
            </a:pPr>
            <a:r>
              <a:rPr b="0" i="0" lang="en-US" sz="1050" u="none" cap="none" strike="noStrike">
                <a:solidFill>
                  <a:srgbClr val="15171A"/>
                </a:solidFill>
                <a:latin typeface="Arial"/>
                <a:ea typeface="Arial"/>
                <a:cs typeface="Arial"/>
                <a:sym typeface="Arial"/>
              </a:rPr>
              <a:t>Identità, foto, delega e targa non lasciano il dispositivo</a:t>
            </a:r>
            <a:endParaRPr b="0" i="0" sz="1050" u="none" cap="none" strike="noStrike">
              <a:solidFill>
                <a:schemeClr val="dk1"/>
              </a:solidFill>
              <a:latin typeface="Calibri"/>
              <a:ea typeface="Calibri"/>
              <a:cs typeface="Calibri"/>
              <a:sym typeface="Calibri"/>
            </a:endParaRPr>
          </a:p>
        </p:txBody>
      </p:sp>
      <p:sp>
        <p:nvSpPr>
          <p:cNvPr id="139" name="Google Shape;139;p8"/>
          <p:cNvSpPr/>
          <p:nvPr/>
        </p:nvSpPr>
        <p:spPr>
          <a:xfrm>
            <a:off x="3108960" y="2350008"/>
            <a:ext cx="146304" cy="274320"/>
          </a:xfrm>
          <a:prstGeom prst="chevron">
            <a:avLst>
              <a:gd fmla="val 50000" name="adj"/>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3328416" y="1115568"/>
            <a:ext cx="2487168" cy="2788920"/>
          </a:xfrm>
          <a:prstGeom prst="roundRect">
            <a:avLst>
              <a:gd fmla="val 2941" name="adj"/>
            </a:avLst>
          </a:prstGeom>
          <a:solidFill>
            <a:schemeClr val="lt1"/>
          </a:solidFill>
          <a:ln cap="flat" cmpd="sng" w="12700">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3529584" y="1298448"/>
            <a:ext cx="457200" cy="45720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2" name="Google Shape;142;p8"/>
          <p:cNvPicPr preferRelativeResize="0"/>
          <p:nvPr/>
        </p:nvPicPr>
        <p:blipFill rotWithShape="1">
          <a:blip r:embed="rId4">
            <a:alphaModFix/>
          </a:blip>
          <a:srcRect b="0" l="0" r="0" t="0"/>
          <a:stretch/>
        </p:blipFill>
        <p:spPr>
          <a:xfrm>
            <a:off x="3648456" y="1417320"/>
            <a:ext cx="219456" cy="219456"/>
          </a:xfrm>
          <a:prstGeom prst="rect">
            <a:avLst/>
          </a:prstGeom>
          <a:noFill/>
          <a:ln>
            <a:noFill/>
          </a:ln>
        </p:spPr>
      </p:pic>
      <p:sp>
        <p:nvSpPr>
          <p:cNvPr id="143" name="Google Shape;143;p8"/>
          <p:cNvSpPr txBox="1"/>
          <p:nvPr/>
        </p:nvSpPr>
        <p:spPr>
          <a:xfrm>
            <a:off x="4105656" y="1280160"/>
            <a:ext cx="1572768"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500"/>
              <a:buFont typeface="Arial"/>
              <a:buNone/>
            </a:pPr>
            <a:r>
              <a:rPr b="1" i="0" lang="en-US" sz="1500" u="none" cap="none" strike="noStrike">
                <a:solidFill>
                  <a:srgbClr val="15171A"/>
                </a:solidFill>
                <a:latin typeface="Arial"/>
                <a:ea typeface="Arial"/>
                <a:cs typeface="Arial"/>
                <a:sym typeface="Arial"/>
              </a:rPr>
              <a:t>Server Python</a:t>
            </a:r>
            <a:endParaRPr b="0" i="0" sz="1500" u="none" cap="none" strike="noStrike">
              <a:solidFill>
                <a:schemeClr val="dk1"/>
              </a:solidFill>
              <a:latin typeface="Calibri"/>
              <a:ea typeface="Calibri"/>
              <a:cs typeface="Calibri"/>
              <a:sym typeface="Calibri"/>
            </a:endParaRPr>
          </a:p>
        </p:txBody>
      </p:sp>
      <p:sp>
        <p:nvSpPr>
          <p:cNvPr id="144" name="Google Shape;144;p8"/>
          <p:cNvSpPr txBox="1"/>
          <p:nvPr/>
        </p:nvSpPr>
        <p:spPr>
          <a:xfrm>
            <a:off x="4105656" y="1554480"/>
            <a:ext cx="1572768"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50"/>
              <a:buFont typeface="Arial"/>
              <a:buNone/>
            </a:pPr>
            <a:r>
              <a:rPr b="0" i="0" lang="en-US" sz="950" u="none" cap="none" strike="noStrike">
                <a:solidFill>
                  <a:srgbClr val="6B7280"/>
                </a:solidFill>
                <a:latin typeface="Arial"/>
                <a:ea typeface="Arial"/>
                <a:cs typeface="Arial"/>
                <a:sym typeface="Arial"/>
              </a:rPr>
              <a:t>server.py, senza database</a:t>
            </a:r>
            <a:endParaRPr b="0" i="0" sz="950" u="none" cap="none" strike="noStrike">
              <a:solidFill>
                <a:schemeClr val="dk1"/>
              </a:solidFill>
              <a:latin typeface="Calibri"/>
              <a:ea typeface="Calibri"/>
              <a:cs typeface="Calibri"/>
              <a:sym typeface="Calibri"/>
            </a:endParaRPr>
          </a:p>
        </p:txBody>
      </p:sp>
      <p:sp>
        <p:nvSpPr>
          <p:cNvPr id="145" name="Google Shape;145;p8"/>
          <p:cNvSpPr txBox="1"/>
          <p:nvPr/>
        </p:nvSpPr>
        <p:spPr>
          <a:xfrm>
            <a:off x="3529584" y="1956816"/>
            <a:ext cx="2121408" cy="18745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5171A"/>
              </a:buClr>
              <a:buSzPts val="1050"/>
              <a:buFont typeface="Arial"/>
              <a:buChar char="•"/>
            </a:pPr>
            <a:r>
              <a:rPr b="0" i="0" lang="en-US" sz="1050" u="none" cap="none" strike="noStrike">
                <a:solidFill>
                  <a:srgbClr val="15171A"/>
                </a:solidFill>
                <a:latin typeface="Arial"/>
                <a:ea typeface="Arial"/>
                <a:cs typeface="Arial"/>
                <a:sym typeface="Arial"/>
              </a:rPr>
              <a:t>Regole R1–R12, ognuna con la fonte del Comune (rules.py)</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15171A"/>
              </a:buClr>
              <a:buSzPts val="1050"/>
              <a:buFont typeface="Arial"/>
              <a:buChar char="•"/>
            </a:pPr>
            <a:r>
              <a:rPr b="0" i="0" lang="en-US" sz="1050" u="none" cap="none" strike="noStrike">
                <a:solidFill>
                  <a:srgbClr val="15171A"/>
                </a:solidFill>
                <a:latin typeface="Arial"/>
                <a:ea typeface="Arial"/>
                <a:cs typeface="Arial"/>
                <a:sym typeface="Arial"/>
              </a:rPr>
              <a:t>Uffici vicini con i dati aperti: 65.218 civici (ds634), anagrafe (ds549), municipi (ds1299)</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15171A"/>
              </a:buClr>
              <a:buSzPts val="1050"/>
              <a:buFont typeface="Arial"/>
              <a:buChar char="•"/>
            </a:pPr>
            <a:r>
              <a:rPr b="0" i="0" lang="en-US" sz="1050" u="none" cap="none" strike="noStrike">
                <a:solidFill>
                  <a:srgbClr val="15171A"/>
                </a:solidFill>
                <a:latin typeface="Arial"/>
                <a:ea typeface="Arial"/>
                <a:cs typeface="Arial"/>
                <a:sym typeface="Arial"/>
              </a:rPr>
              <a:t>Contenuti solo in memoria, nessun log dei contenuti</a:t>
            </a:r>
            <a:endParaRPr b="0" i="0" sz="1050" u="none" cap="none" strike="noStrike">
              <a:solidFill>
                <a:schemeClr val="dk1"/>
              </a:solidFill>
              <a:latin typeface="Calibri"/>
              <a:ea typeface="Calibri"/>
              <a:cs typeface="Calibri"/>
              <a:sym typeface="Calibri"/>
            </a:endParaRPr>
          </a:p>
        </p:txBody>
      </p:sp>
      <p:sp>
        <p:nvSpPr>
          <p:cNvPr id="146" name="Google Shape;146;p8"/>
          <p:cNvSpPr/>
          <p:nvPr/>
        </p:nvSpPr>
        <p:spPr>
          <a:xfrm>
            <a:off x="5888736" y="2350008"/>
            <a:ext cx="146304" cy="274320"/>
          </a:xfrm>
          <a:prstGeom prst="chevron">
            <a:avLst>
              <a:gd fmla="val 50000" name="adj"/>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6108192" y="1115568"/>
            <a:ext cx="2487168" cy="2788920"/>
          </a:xfrm>
          <a:prstGeom prst="roundRect">
            <a:avLst>
              <a:gd fmla="val 2941" name="adj"/>
            </a:avLst>
          </a:prstGeom>
          <a:solidFill>
            <a:srgbClr val="15171A"/>
          </a:solidFill>
          <a:ln cap="flat" cmpd="sng" w="12700">
            <a:solidFill>
              <a:srgbClr val="1517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6309360" y="1298448"/>
            <a:ext cx="457200" cy="45720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 name="Google Shape;149;p8"/>
          <p:cNvPicPr preferRelativeResize="0"/>
          <p:nvPr/>
        </p:nvPicPr>
        <p:blipFill rotWithShape="1">
          <a:blip r:embed="rId5">
            <a:alphaModFix/>
          </a:blip>
          <a:srcRect b="0" l="0" r="0" t="0"/>
          <a:stretch/>
        </p:blipFill>
        <p:spPr>
          <a:xfrm>
            <a:off x="6428232" y="1417320"/>
            <a:ext cx="219456" cy="219456"/>
          </a:xfrm>
          <a:prstGeom prst="rect">
            <a:avLst/>
          </a:prstGeom>
          <a:noFill/>
          <a:ln>
            <a:noFill/>
          </a:ln>
        </p:spPr>
      </p:pic>
      <p:sp>
        <p:nvSpPr>
          <p:cNvPr id="150" name="Google Shape;150;p8"/>
          <p:cNvSpPr txBox="1"/>
          <p:nvPr/>
        </p:nvSpPr>
        <p:spPr>
          <a:xfrm>
            <a:off x="6885432" y="1280160"/>
            <a:ext cx="1572768"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Claude API</a:t>
            </a:r>
            <a:endParaRPr b="0" i="0" sz="1500" u="none" cap="none" strike="noStrike">
              <a:solidFill>
                <a:schemeClr val="dk1"/>
              </a:solidFill>
              <a:latin typeface="Calibri"/>
              <a:ea typeface="Calibri"/>
              <a:cs typeface="Calibri"/>
              <a:sym typeface="Calibri"/>
            </a:endParaRPr>
          </a:p>
        </p:txBody>
      </p:sp>
      <p:sp>
        <p:nvSpPr>
          <p:cNvPr id="151" name="Google Shape;151;p8"/>
          <p:cNvSpPr txBox="1"/>
          <p:nvPr/>
        </p:nvSpPr>
        <p:spPr>
          <a:xfrm>
            <a:off x="6885432" y="1554480"/>
            <a:ext cx="1572768"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950"/>
              <a:buFont typeface="Arial"/>
              <a:buNone/>
            </a:pPr>
            <a:r>
              <a:rPr b="0" i="0" lang="en-US" sz="950" u="none" cap="none" strike="noStrike">
                <a:solidFill>
                  <a:srgbClr val="D1D5DB"/>
                </a:solidFill>
                <a:latin typeface="Arial"/>
                <a:ea typeface="Arial"/>
                <a:cs typeface="Arial"/>
                <a:sym typeface="Arial"/>
              </a:rPr>
              <a:t>claude-opus-5-5 · risposta JSON a schema fisso</a:t>
            </a:r>
            <a:endParaRPr b="0" i="0" sz="950" u="none" cap="none" strike="noStrike">
              <a:solidFill>
                <a:schemeClr val="dk1"/>
              </a:solidFill>
              <a:latin typeface="Calibri"/>
              <a:ea typeface="Calibri"/>
              <a:cs typeface="Calibri"/>
              <a:sym typeface="Calibri"/>
            </a:endParaRPr>
          </a:p>
        </p:txBody>
      </p:sp>
      <p:sp>
        <p:nvSpPr>
          <p:cNvPr id="152" name="Google Shape;152;p8"/>
          <p:cNvSpPr txBox="1"/>
          <p:nvPr/>
        </p:nvSpPr>
        <p:spPr>
          <a:xfrm>
            <a:off x="6309360" y="1956816"/>
            <a:ext cx="2121408" cy="18745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/api/check-medical: tipo di documento, «Pagina X di Y», art. 381 o L. 382/70, frase del medico</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/api/check-summary: prova generale sullo screenshot del Riepilogo</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Il testo nei documenti è trattato come dato, mai come istruzione</a:t>
            </a:r>
            <a:endParaRPr b="0" i="0" sz="1050" u="none" cap="none" strike="noStrike">
              <a:solidFill>
                <a:schemeClr val="dk1"/>
              </a:solidFill>
              <a:latin typeface="Calibri"/>
              <a:ea typeface="Calibri"/>
              <a:cs typeface="Calibri"/>
              <a:sym typeface="Calibri"/>
            </a:endParaRPr>
          </a:p>
        </p:txBody>
      </p:sp>
      <p:sp>
        <p:nvSpPr>
          <p:cNvPr id="153" name="Google Shape;153;p8"/>
          <p:cNvSpPr/>
          <p:nvPr/>
        </p:nvSpPr>
        <p:spPr>
          <a:xfrm>
            <a:off x="548640" y="4069080"/>
            <a:ext cx="8046720" cy="548640"/>
          </a:xfrm>
          <a:prstGeom prst="roundRect">
            <a:avLst>
              <a:gd fmla="val 13333" name="adj"/>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txBox="1"/>
          <p:nvPr/>
        </p:nvSpPr>
        <p:spPr>
          <a:xfrm>
            <a:off x="777240" y="4069080"/>
            <a:ext cx="7680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Claude controlla la completezza.  </a:t>
            </a:r>
            <a:r>
              <a:rPr b="0" i="0" lang="en-US" sz="1300" u="none" cap="none" strike="noStrike">
                <a:solidFill>
                  <a:srgbClr val="FFFFFF"/>
                </a:solidFill>
                <a:latin typeface="Arial"/>
                <a:ea typeface="Arial"/>
                <a:cs typeface="Arial"/>
                <a:sym typeface="Arial"/>
              </a:rPr>
              <a:t>Firma e invia la persona, decide l'ufficio pass.</a:t>
            </a:r>
            <a:endParaRPr b="0" i="0" sz="1300" u="none" cap="none" strike="noStrike">
              <a:solidFill>
                <a:schemeClr val="dk1"/>
              </a:solidFill>
              <a:latin typeface="Calibri"/>
              <a:ea typeface="Calibri"/>
              <a:cs typeface="Calibri"/>
              <a:sym typeface="Calibri"/>
            </a:endParaRPr>
          </a:p>
        </p:txBody>
      </p:sp>
      <p:sp>
        <p:nvSpPr>
          <p:cNvPr id="155" name="Google Shape;155;p8"/>
          <p:cNvSpPr txBox="1"/>
          <p:nvPr/>
        </p:nvSpPr>
        <p:spPr>
          <a:xfrm>
            <a:off x="548640" y="4736592"/>
            <a:ext cx="8046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Codice open source (MIT): github.com/JuliaVoro/sportello-amico · modalità --mock per demo offline senza AI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CD8"/>
        </a:solidFill>
      </p:bgPr>
    </p:bg>
    <p:spTree>
      <p:nvGrpSpPr>
        <p:cNvPr id="160" name="Shape 160"/>
        <p:cNvGrpSpPr/>
        <p:nvPr/>
      </p:nvGrpSpPr>
      <p:grpSpPr>
        <a:xfrm>
          <a:off x="0" y="0"/>
          <a:ext cx="0" cy="0"/>
          <a:chOff x="0" y="0"/>
          <a:chExt cx="0" cy="0"/>
        </a:xfrm>
      </p:grpSpPr>
      <p:sp>
        <p:nvSpPr>
          <p:cNvPr id="161" name="Google Shape;161;p9"/>
          <p:cNvSpPr txBox="1"/>
          <p:nvPr/>
        </p:nvSpPr>
        <p:spPr>
          <a:xfrm>
            <a:off x="548640" y="384048"/>
            <a:ext cx="804672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2800"/>
              <a:buFont typeface="Arial"/>
              <a:buNone/>
            </a:pPr>
            <a:r>
              <a:rPr b="1" i="0" lang="en-US" sz="2800" u="none" cap="none" strike="noStrike">
                <a:solidFill>
                  <a:srgbClr val="15171A"/>
                </a:solidFill>
                <a:latin typeface="Arial"/>
                <a:ea typeface="Arial"/>
                <a:cs typeface="Arial"/>
                <a:sym typeface="Arial"/>
              </a:rPr>
              <a:t>Privacy: a Claude solo il minimo indispensabile</a:t>
            </a:r>
            <a:endParaRPr b="0" i="0" sz="2800" u="none" cap="none" strike="noStrike">
              <a:solidFill>
                <a:schemeClr val="dk1"/>
              </a:solidFill>
              <a:latin typeface="Calibri"/>
              <a:ea typeface="Calibri"/>
              <a:cs typeface="Calibri"/>
              <a:sym typeface="Calibri"/>
            </a:endParaRPr>
          </a:p>
        </p:txBody>
      </p:sp>
      <p:sp>
        <p:nvSpPr>
          <p:cNvPr id="162" name="Google Shape;162;p9"/>
          <p:cNvSpPr/>
          <p:nvPr/>
        </p:nvSpPr>
        <p:spPr>
          <a:xfrm>
            <a:off x="548640" y="1115568"/>
            <a:ext cx="3017520" cy="3246120"/>
          </a:xfrm>
          <a:prstGeom prst="rect">
            <a:avLst/>
          </a:prstGeom>
          <a:solidFill>
            <a:srgbClr val="FFFFFF"/>
          </a:solidFill>
          <a:ln cap="flat" cmpd="sng" w="1587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txBox="1"/>
          <p:nvPr/>
        </p:nvSpPr>
        <p:spPr>
          <a:xfrm>
            <a:off x="777240" y="1261872"/>
            <a:ext cx="25603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Arial"/>
              <a:buNone/>
            </a:pPr>
            <a:r>
              <a:rPr b="1" i="0" lang="en-US" sz="900" u="none" cap="none" strike="noStrike">
                <a:solidFill>
                  <a:srgbClr val="6B7280"/>
                </a:solidFill>
                <a:latin typeface="Arial"/>
                <a:ea typeface="Arial"/>
                <a:cs typeface="Arial"/>
                <a:sym typeface="Arial"/>
              </a:rPr>
              <a:t>VERBALE · VERSIONE OMISSIS</a:t>
            </a:r>
            <a:endParaRPr b="0" i="0" sz="900" u="none" cap="none" strike="noStrike">
              <a:solidFill>
                <a:schemeClr val="dk1"/>
              </a:solidFill>
              <a:latin typeface="Calibri"/>
              <a:ea typeface="Calibri"/>
              <a:cs typeface="Calibri"/>
              <a:sym typeface="Calibri"/>
            </a:endParaRPr>
          </a:p>
        </p:txBody>
      </p:sp>
      <p:sp>
        <p:nvSpPr>
          <p:cNvPr id="164" name="Google Shape;164;p9"/>
          <p:cNvSpPr/>
          <p:nvPr/>
        </p:nvSpPr>
        <p:spPr>
          <a:xfrm>
            <a:off x="777240" y="1627632"/>
            <a:ext cx="2560320" cy="256032"/>
          </a:xfrm>
          <a:prstGeom prst="rect">
            <a:avLst/>
          </a:prstGeom>
          <a:solidFill>
            <a:srgbClr val="15171A"/>
          </a:solidFill>
          <a:ln cap="flat" cmpd="sng" w="12700">
            <a:solidFill>
              <a:srgbClr val="1517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txBox="1"/>
          <p:nvPr/>
        </p:nvSpPr>
        <p:spPr>
          <a:xfrm>
            <a:off x="868680" y="1627632"/>
            <a:ext cx="2377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Arial"/>
              <a:buNone/>
            </a:pPr>
            <a:r>
              <a:rPr b="0" i="1" lang="en-US" sz="900" u="none" cap="none" strike="noStrike">
                <a:solidFill>
                  <a:srgbClr val="9CA3AF"/>
                </a:solidFill>
                <a:latin typeface="Arial"/>
                <a:ea typeface="Arial"/>
                <a:cs typeface="Arial"/>
                <a:sym typeface="Arial"/>
              </a:rPr>
              <a:t>Nome e cognome</a:t>
            </a:r>
            <a:endParaRPr b="0" i="0" sz="900" u="none" cap="none" strike="noStrike">
              <a:solidFill>
                <a:schemeClr val="dk1"/>
              </a:solidFill>
              <a:latin typeface="Calibri"/>
              <a:ea typeface="Calibri"/>
              <a:cs typeface="Calibri"/>
              <a:sym typeface="Calibri"/>
            </a:endParaRPr>
          </a:p>
        </p:txBody>
      </p:sp>
      <p:sp>
        <p:nvSpPr>
          <p:cNvPr id="166" name="Google Shape;166;p9"/>
          <p:cNvSpPr/>
          <p:nvPr/>
        </p:nvSpPr>
        <p:spPr>
          <a:xfrm>
            <a:off x="777240" y="2011680"/>
            <a:ext cx="2560320" cy="256032"/>
          </a:xfrm>
          <a:prstGeom prst="rect">
            <a:avLst/>
          </a:prstGeom>
          <a:solidFill>
            <a:srgbClr val="15171A"/>
          </a:solidFill>
          <a:ln cap="flat" cmpd="sng" w="12700">
            <a:solidFill>
              <a:srgbClr val="1517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txBox="1"/>
          <p:nvPr/>
        </p:nvSpPr>
        <p:spPr>
          <a:xfrm>
            <a:off x="868680" y="2011680"/>
            <a:ext cx="2377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Arial"/>
              <a:buNone/>
            </a:pPr>
            <a:r>
              <a:rPr b="0" i="1" lang="en-US" sz="900" u="none" cap="none" strike="noStrike">
                <a:solidFill>
                  <a:srgbClr val="9CA3AF"/>
                </a:solidFill>
                <a:latin typeface="Arial"/>
                <a:ea typeface="Arial"/>
                <a:cs typeface="Arial"/>
                <a:sym typeface="Arial"/>
              </a:rPr>
              <a:t>Codice fiscale</a:t>
            </a:r>
            <a:endParaRPr b="0" i="0" sz="900" u="none" cap="none" strike="noStrike">
              <a:solidFill>
                <a:schemeClr val="dk1"/>
              </a:solidFill>
              <a:latin typeface="Calibri"/>
              <a:ea typeface="Calibri"/>
              <a:cs typeface="Calibri"/>
              <a:sym typeface="Calibri"/>
            </a:endParaRPr>
          </a:p>
        </p:txBody>
      </p:sp>
      <p:sp>
        <p:nvSpPr>
          <p:cNvPr id="168" name="Google Shape;168;p9"/>
          <p:cNvSpPr/>
          <p:nvPr/>
        </p:nvSpPr>
        <p:spPr>
          <a:xfrm>
            <a:off x="777240" y="2395728"/>
            <a:ext cx="2560320" cy="256032"/>
          </a:xfrm>
          <a:prstGeom prst="rect">
            <a:avLst/>
          </a:prstGeom>
          <a:solidFill>
            <a:srgbClr val="15171A"/>
          </a:solidFill>
          <a:ln cap="flat" cmpd="sng" w="12700">
            <a:solidFill>
              <a:srgbClr val="1517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txBox="1"/>
          <p:nvPr/>
        </p:nvSpPr>
        <p:spPr>
          <a:xfrm>
            <a:off x="868680" y="2395728"/>
            <a:ext cx="2377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Arial"/>
              <a:buNone/>
            </a:pPr>
            <a:r>
              <a:rPr b="0" i="1" lang="en-US" sz="900" u="none" cap="none" strike="noStrike">
                <a:solidFill>
                  <a:srgbClr val="9CA3AF"/>
                </a:solidFill>
                <a:latin typeface="Arial"/>
                <a:ea typeface="Arial"/>
                <a:cs typeface="Arial"/>
                <a:sym typeface="Arial"/>
              </a:rPr>
              <a:t>N. pratica INPS</a:t>
            </a:r>
            <a:endParaRPr b="0" i="0" sz="900" u="none" cap="none" strike="noStrike">
              <a:solidFill>
                <a:schemeClr val="dk1"/>
              </a:solidFill>
              <a:latin typeface="Calibri"/>
              <a:ea typeface="Calibri"/>
              <a:cs typeface="Calibri"/>
              <a:sym typeface="Calibri"/>
            </a:endParaRPr>
          </a:p>
        </p:txBody>
      </p:sp>
      <p:sp>
        <p:nvSpPr>
          <p:cNvPr id="170" name="Google Shape;170;p9"/>
          <p:cNvSpPr/>
          <p:nvPr/>
        </p:nvSpPr>
        <p:spPr>
          <a:xfrm>
            <a:off x="777240" y="2779776"/>
            <a:ext cx="2560320" cy="256032"/>
          </a:xfrm>
          <a:prstGeom prst="rect">
            <a:avLst/>
          </a:prstGeom>
          <a:solidFill>
            <a:srgbClr val="15171A"/>
          </a:solidFill>
          <a:ln cap="flat" cmpd="sng" w="12700">
            <a:solidFill>
              <a:srgbClr val="1517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txBox="1"/>
          <p:nvPr/>
        </p:nvSpPr>
        <p:spPr>
          <a:xfrm>
            <a:off x="868680" y="2779776"/>
            <a:ext cx="2377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Arial"/>
              <a:buNone/>
            </a:pPr>
            <a:r>
              <a:rPr b="0" i="1" lang="en-US" sz="900" u="none" cap="none" strike="noStrike">
                <a:solidFill>
                  <a:srgbClr val="9CA3AF"/>
                </a:solidFill>
                <a:latin typeface="Arial"/>
                <a:ea typeface="Arial"/>
                <a:cs typeface="Arial"/>
                <a:sym typeface="Arial"/>
              </a:rPr>
              <a:t>Data della visita</a:t>
            </a:r>
            <a:endParaRPr b="0" i="0" sz="900" u="none" cap="none" strike="noStrike">
              <a:solidFill>
                <a:schemeClr val="dk1"/>
              </a:solidFill>
              <a:latin typeface="Calibri"/>
              <a:ea typeface="Calibri"/>
              <a:cs typeface="Calibri"/>
              <a:sym typeface="Calibri"/>
            </a:endParaRPr>
          </a:p>
        </p:txBody>
      </p:sp>
      <p:sp>
        <p:nvSpPr>
          <p:cNvPr id="172" name="Google Shape;172;p9"/>
          <p:cNvSpPr/>
          <p:nvPr/>
        </p:nvSpPr>
        <p:spPr>
          <a:xfrm>
            <a:off x="777240" y="3255264"/>
            <a:ext cx="2011680" cy="73152"/>
          </a:xfrm>
          <a:prstGeom prst="rect">
            <a:avLst/>
          </a:prstGeom>
          <a:solidFill>
            <a:srgbClr val="D1D5DB"/>
          </a:solidFill>
          <a:ln cap="flat" cmpd="sng" w="12700">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p:nvPr/>
        </p:nvSpPr>
        <p:spPr>
          <a:xfrm>
            <a:off x="777240" y="3547872"/>
            <a:ext cx="2560320" cy="256032"/>
          </a:xfrm>
          <a:prstGeom prst="rect">
            <a:avLst/>
          </a:prstGeom>
          <a:solidFill>
            <a:srgbClr val="E8F3EC"/>
          </a:solidFill>
          <a:ln cap="flat" cmpd="sng" w="15875">
            <a:solidFill>
              <a:srgbClr val="1873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txBox="1"/>
          <p:nvPr/>
        </p:nvSpPr>
        <p:spPr>
          <a:xfrm>
            <a:off x="868680" y="3547872"/>
            <a:ext cx="2377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733A"/>
              </a:buClr>
              <a:buSzPts val="1000"/>
              <a:buFont typeface="Arial"/>
              <a:buNone/>
            </a:pPr>
            <a:r>
              <a:rPr b="1" i="0" lang="en-US" sz="1000" u="none" cap="none" strike="noStrike">
                <a:solidFill>
                  <a:srgbClr val="18733A"/>
                </a:solidFill>
                <a:latin typeface="Arial"/>
                <a:ea typeface="Arial"/>
                <a:cs typeface="Arial"/>
                <a:sym typeface="Arial"/>
              </a:rPr>
              <a:t>art. 381 DPR 495/92</a:t>
            </a:r>
            <a:endParaRPr b="0" i="0" sz="1000" u="none" cap="none" strike="noStrike">
              <a:solidFill>
                <a:schemeClr val="dk1"/>
              </a:solidFill>
              <a:latin typeface="Calibri"/>
              <a:ea typeface="Calibri"/>
              <a:cs typeface="Calibri"/>
              <a:sym typeface="Calibri"/>
            </a:endParaRPr>
          </a:p>
        </p:txBody>
      </p:sp>
      <p:sp>
        <p:nvSpPr>
          <p:cNvPr id="175" name="Google Shape;175;p9"/>
          <p:cNvSpPr/>
          <p:nvPr/>
        </p:nvSpPr>
        <p:spPr>
          <a:xfrm>
            <a:off x="777240" y="3931920"/>
            <a:ext cx="2560320" cy="256032"/>
          </a:xfrm>
          <a:prstGeom prst="rect">
            <a:avLst/>
          </a:prstGeom>
          <a:solidFill>
            <a:srgbClr val="E8F3EC"/>
          </a:solidFill>
          <a:ln cap="flat" cmpd="sng" w="15875">
            <a:solidFill>
              <a:srgbClr val="1873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txBox="1"/>
          <p:nvPr/>
        </p:nvSpPr>
        <p:spPr>
          <a:xfrm>
            <a:off x="868680" y="3931920"/>
            <a:ext cx="2377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733A"/>
              </a:buClr>
              <a:buSzPts val="1000"/>
              <a:buFont typeface="Arial"/>
              <a:buNone/>
            </a:pPr>
            <a:r>
              <a:rPr b="1" i="0" lang="en-US" sz="1000" u="none" cap="none" strike="noStrike">
                <a:solidFill>
                  <a:srgbClr val="18733A"/>
                </a:solidFill>
                <a:latin typeface="Arial"/>
                <a:ea typeface="Arial"/>
                <a:cs typeface="Arial"/>
                <a:sym typeface="Arial"/>
              </a:rPr>
              <a:t>Pagina 1 di 3</a:t>
            </a:r>
            <a:endParaRPr b="0" i="0" sz="1000" u="none" cap="none" strike="noStrike">
              <a:solidFill>
                <a:schemeClr val="dk1"/>
              </a:solidFill>
              <a:latin typeface="Calibri"/>
              <a:ea typeface="Calibri"/>
              <a:cs typeface="Calibri"/>
              <a:sym typeface="Calibri"/>
            </a:endParaRPr>
          </a:p>
        </p:txBody>
      </p:sp>
      <p:sp>
        <p:nvSpPr>
          <p:cNvPr id="177" name="Google Shape;177;p9"/>
          <p:cNvSpPr txBox="1"/>
          <p:nvPr/>
        </p:nvSpPr>
        <p:spPr>
          <a:xfrm>
            <a:off x="548640" y="4434840"/>
            <a:ext cx="301752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850"/>
              <a:buFont typeface="Arial"/>
              <a:buNone/>
            </a:pPr>
            <a:r>
              <a:rPr b="0" i="1" lang="en-US" sz="850" u="none" cap="none" strike="noStrike">
                <a:solidFill>
                  <a:srgbClr val="6B7280"/>
                </a:solidFill>
                <a:latin typeface="Arial"/>
                <a:ea typeface="Arial"/>
                <a:cs typeface="Arial"/>
                <a:sym typeface="Arial"/>
              </a:rPr>
              <a:t>Nero: coperto prima dell'invio · Verde: ciò che serve a Claude</a:t>
            </a:r>
            <a:endParaRPr b="0" i="0" sz="850" u="none" cap="none" strike="noStrike">
              <a:solidFill>
                <a:schemeClr val="dk1"/>
              </a:solidFill>
              <a:latin typeface="Calibri"/>
              <a:ea typeface="Calibri"/>
              <a:cs typeface="Calibri"/>
              <a:sym typeface="Calibri"/>
            </a:endParaRPr>
          </a:p>
        </p:txBody>
      </p:sp>
      <p:sp>
        <p:nvSpPr>
          <p:cNvPr id="178" name="Google Shape;178;p9"/>
          <p:cNvSpPr/>
          <p:nvPr/>
        </p:nvSpPr>
        <p:spPr>
          <a:xfrm>
            <a:off x="3886200" y="1188720"/>
            <a:ext cx="868680" cy="237744"/>
          </a:xfrm>
          <a:prstGeom prst="roundRect">
            <a:avLst>
              <a:gd fmla="val 50000" name="adj"/>
            </a:avLst>
          </a:prstGeom>
          <a:solidFill>
            <a:srgbClr val="15171A"/>
          </a:solidFill>
          <a:ln cap="flat" cmpd="sng" w="15875">
            <a:solidFill>
              <a:srgbClr val="1517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txBox="1"/>
          <p:nvPr/>
        </p:nvSpPr>
        <p:spPr>
          <a:xfrm>
            <a:off x="3886200" y="1188720"/>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GIÀ OGGI</a:t>
            </a:r>
            <a:endParaRPr b="0" i="0" sz="850" u="none" cap="none" strike="noStrike">
              <a:solidFill>
                <a:schemeClr val="dk1"/>
              </a:solidFill>
              <a:latin typeface="Calibri"/>
              <a:ea typeface="Calibri"/>
              <a:cs typeface="Calibri"/>
              <a:sym typeface="Calibri"/>
            </a:endParaRPr>
          </a:p>
        </p:txBody>
      </p:sp>
      <p:sp>
        <p:nvSpPr>
          <p:cNvPr id="180" name="Google Shape;180;p9"/>
          <p:cNvSpPr txBox="1"/>
          <p:nvPr/>
        </p:nvSpPr>
        <p:spPr>
          <a:xfrm>
            <a:off x="4892040" y="1143000"/>
            <a:ext cx="37033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200"/>
              <a:buFont typeface="Arial"/>
              <a:buNone/>
            </a:pPr>
            <a:r>
              <a:rPr b="0" i="0" lang="en-US" sz="1200" u="none" cap="none" strike="noStrike">
                <a:solidFill>
                  <a:srgbClr val="15171A"/>
                </a:solidFill>
                <a:latin typeface="Arial"/>
                <a:ea typeface="Arial"/>
                <a:cs typeface="Arial"/>
                <a:sym typeface="Arial"/>
              </a:rPr>
              <a:t>Identità, foto, delega e targa restano nel browser</a:t>
            </a:r>
            <a:endParaRPr b="0" i="0" sz="1200" u="none" cap="none" strike="noStrike">
              <a:solidFill>
                <a:schemeClr val="dk1"/>
              </a:solidFill>
              <a:latin typeface="Calibri"/>
              <a:ea typeface="Calibri"/>
              <a:cs typeface="Calibri"/>
              <a:sym typeface="Calibri"/>
            </a:endParaRPr>
          </a:p>
        </p:txBody>
      </p:sp>
      <p:sp>
        <p:nvSpPr>
          <p:cNvPr id="181" name="Google Shape;181;p9"/>
          <p:cNvSpPr/>
          <p:nvPr/>
        </p:nvSpPr>
        <p:spPr>
          <a:xfrm>
            <a:off x="3886200" y="1874520"/>
            <a:ext cx="868680" cy="237744"/>
          </a:xfrm>
          <a:prstGeom prst="roundRect">
            <a:avLst>
              <a:gd fmla="val 50000" name="adj"/>
            </a:avLst>
          </a:prstGeom>
          <a:solidFill>
            <a:srgbClr val="FFFFFF"/>
          </a:solidFill>
          <a:ln cap="flat" cmpd="sng" w="15875">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txBox="1"/>
          <p:nvPr/>
        </p:nvSpPr>
        <p:spPr>
          <a:xfrm>
            <a:off x="3886200" y="1874520"/>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0E2B"/>
              </a:buClr>
              <a:buSzPts val="850"/>
              <a:buFont typeface="Arial"/>
              <a:buNone/>
            </a:pPr>
            <a:r>
              <a:rPr b="1" i="0" lang="en-US" sz="850" u="none" cap="none" strike="noStrike">
                <a:solidFill>
                  <a:srgbClr val="A50E2B"/>
                </a:solidFill>
                <a:latin typeface="Arial"/>
                <a:ea typeface="Arial"/>
                <a:cs typeface="Arial"/>
                <a:sym typeface="Arial"/>
              </a:rPr>
              <a:t>PROPOSTA</a:t>
            </a:r>
            <a:endParaRPr b="0" i="0" sz="850" u="none" cap="none" strike="noStrike">
              <a:solidFill>
                <a:schemeClr val="dk1"/>
              </a:solidFill>
              <a:latin typeface="Calibri"/>
              <a:ea typeface="Calibri"/>
              <a:cs typeface="Calibri"/>
              <a:sym typeface="Calibri"/>
            </a:endParaRPr>
          </a:p>
        </p:txBody>
      </p:sp>
      <p:sp>
        <p:nvSpPr>
          <p:cNvPr id="183" name="Google Shape;183;p9"/>
          <p:cNvSpPr txBox="1"/>
          <p:nvPr/>
        </p:nvSpPr>
        <p:spPr>
          <a:xfrm>
            <a:off x="4892040" y="1828800"/>
            <a:ext cx="37033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200"/>
              <a:buFont typeface="Arial"/>
              <a:buNone/>
            </a:pPr>
            <a:r>
              <a:rPr b="0" i="0" lang="en-US" sz="1200" u="none" cap="none" strike="noStrike">
                <a:solidFill>
                  <a:srgbClr val="15171A"/>
                </a:solidFill>
                <a:latin typeface="Arial"/>
                <a:ea typeface="Arial"/>
                <a:cs typeface="Arial"/>
                <a:sym typeface="Arial"/>
              </a:rPr>
              <a:t>Il telefono legge il verbale e applica le regole da solo: Claude solo per i casi dubbi</a:t>
            </a:r>
            <a:endParaRPr b="0" i="0" sz="1200" u="none" cap="none" strike="noStrike">
              <a:solidFill>
                <a:schemeClr val="dk1"/>
              </a:solidFill>
              <a:latin typeface="Calibri"/>
              <a:ea typeface="Calibri"/>
              <a:cs typeface="Calibri"/>
              <a:sym typeface="Calibri"/>
            </a:endParaRPr>
          </a:p>
        </p:txBody>
      </p:sp>
      <p:sp>
        <p:nvSpPr>
          <p:cNvPr id="184" name="Google Shape;184;p9"/>
          <p:cNvSpPr/>
          <p:nvPr/>
        </p:nvSpPr>
        <p:spPr>
          <a:xfrm>
            <a:off x="3886200" y="2560320"/>
            <a:ext cx="868680" cy="237744"/>
          </a:xfrm>
          <a:prstGeom prst="roundRect">
            <a:avLst>
              <a:gd fmla="val 50000" name="adj"/>
            </a:avLst>
          </a:prstGeom>
          <a:solidFill>
            <a:srgbClr val="FFFFFF"/>
          </a:solidFill>
          <a:ln cap="flat" cmpd="sng" w="15875">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txBox="1"/>
          <p:nvPr/>
        </p:nvSpPr>
        <p:spPr>
          <a:xfrm>
            <a:off x="3886200" y="2560320"/>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0E2B"/>
              </a:buClr>
              <a:buSzPts val="850"/>
              <a:buFont typeface="Arial"/>
              <a:buNone/>
            </a:pPr>
            <a:r>
              <a:rPr b="1" i="0" lang="en-US" sz="850" u="none" cap="none" strike="noStrike">
                <a:solidFill>
                  <a:srgbClr val="A50E2B"/>
                </a:solidFill>
                <a:latin typeface="Arial"/>
                <a:ea typeface="Arial"/>
                <a:cs typeface="Arial"/>
                <a:sym typeface="Arial"/>
              </a:rPr>
              <a:t>PROPOSTA</a:t>
            </a:r>
            <a:endParaRPr b="0" i="0" sz="850" u="none" cap="none" strike="noStrike">
              <a:solidFill>
                <a:schemeClr val="dk1"/>
              </a:solidFill>
              <a:latin typeface="Calibri"/>
              <a:ea typeface="Calibri"/>
              <a:cs typeface="Calibri"/>
              <a:sym typeface="Calibri"/>
            </a:endParaRPr>
          </a:p>
        </p:txBody>
      </p:sp>
      <p:sp>
        <p:nvSpPr>
          <p:cNvPr id="186" name="Google Shape;186;p9"/>
          <p:cNvSpPr txBox="1"/>
          <p:nvPr/>
        </p:nvSpPr>
        <p:spPr>
          <a:xfrm>
            <a:off x="4892040" y="2514600"/>
            <a:ext cx="37033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200"/>
              <a:buFont typeface="Arial"/>
              <a:buNone/>
            </a:pPr>
            <a:r>
              <a:rPr b="0" i="0" lang="en-US" sz="1200" u="none" cap="none" strike="noStrike">
                <a:solidFill>
                  <a:srgbClr val="15171A"/>
                </a:solidFill>
                <a:latin typeface="Arial"/>
                <a:ea typeface="Arial"/>
                <a:cs typeface="Arial"/>
                <a:sym typeface="Arial"/>
              </a:rPr>
              <a:t>Pecette automatiche su nome, codice fiscale, n. pratica e date, rese definitive (immagine piatta)</a:t>
            </a:r>
            <a:endParaRPr b="0" i="0" sz="1200" u="none" cap="none" strike="noStrike">
              <a:solidFill>
                <a:schemeClr val="dk1"/>
              </a:solidFill>
              <a:latin typeface="Calibri"/>
              <a:ea typeface="Calibri"/>
              <a:cs typeface="Calibri"/>
              <a:sym typeface="Calibri"/>
            </a:endParaRPr>
          </a:p>
        </p:txBody>
      </p:sp>
      <p:sp>
        <p:nvSpPr>
          <p:cNvPr id="187" name="Google Shape;187;p9"/>
          <p:cNvSpPr/>
          <p:nvPr/>
        </p:nvSpPr>
        <p:spPr>
          <a:xfrm>
            <a:off x="3886200" y="3246120"/>
            <a:ext cx="868680" cy="237744"/>
          </a:xfrm>
          <a:prstGeom prst="roundRect">
            <a:avLst>
              <a:gd fmla="val 50000" name="adj"/>
            </a:avLst>
          </a:prstGeom>
          <a:solidFill>
            <a:srgbClr val="FFFFFF"/>
          </a:solidFill>
          <a:ln cap="flat" cmpd="sng" w="15875">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txBox="1"/>
          <p:nvPr/>
        </p:nvSpPr>
        <p:spPr>
          <a:xfrm>
            <a:off x="3886200" y="3246120"/>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0E2B"/>
              </a:buClr>
              <a:buSzPts val="850"/>
              <a:buFont typeface="Arial"/>
              <a:buNone/>
            </a:pPr>
            <a:r>
              <a:rPr b="1" i="0" lang="en-US" sz="850" u="none" cap="none" strike="noStrike">
                <a:solidFill>
                  <a:srgbClr val="A50E2B"/>
                </a:solidFill>
                <a:latin typeface="Arial"/>
                <a:ea typeface="Arial"/>
                <a:cs typeface="Arial"/>
                <a:sym typeface="Arial"/>
              </a:rPr>
              <a:t>PROPOSTA</a:t>
            </a:r>
            <a:endParaRPr b="0" i="0" sz="850" u="none" cap="none" strike="noStrike">
              <a:solidFill>
                <a:schemeClr val="dk1"/>
              </a:solidFill>
              <a:latin typeface="Calibri"/>
              <a:ea typeface="Calibri"/>
              <a:cs typeface="Calibri"/>
              <a:sym typeface="Calibri"/>
            </a:endParaRPr>
          </a:p>
        </p:txBody>
      </p:sp>
      <p:sp>
        <p:nvSpPr>
          <p:cNvPr id="189" name="Google Shape;189;p9"/>
          <p:cNvSpPr txBox="1"/>
          <p:nvPr/>
        </p:nvSpPr>
        <p:spPr>
          <a:xfrm>
            <a:off x="4892040" y="3200400"/>
            <a:ext cx="37033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200"/>
              <a:buFont typeface="Arial"/>
              <a:buNone/>
            </a:pPr>
            <a:r>
              <a:rPr b="0" i="0" lang="en-US" sz="1200" u="none" cap="none" strike="noStrike">
                <a:solidFill>
                  <a:srgbClr val="15171A"/>
                </a:solidFill>
                <a:latin typeface="Arial"/>
                <a:ea typeface="Arial"/>
                <a:cs typeface="Arial"/>
                <a:sym typeface="Arial"/>
              </a:rPr>
              <a:t>Anteprima «Ecco cosa inviamo», oppure solo checklist senza caricare nulla</a:t>
            </a:r>
            <a:endParaRPr b="0" i="0" sz="1200" u="none" cap="none" strike="noStrike">
              <a:solidFill>
                <a:schemeClr val="dk1"/>
              </a:solidFill>
              <a:latin typeface="Calibri"/>
              <a:ea typeface="Calibri"/>
              <a:cs typeface="Calibri"/>
              <a:sym typeface="Calibri"/>
            </a:endParaRPr>
          </a:p>
        </p:txBody>
      </p:sp>
      <p:sp>
        <p:nvSpPr>
          <p:cNvPr id="190" name="Google Shape;190;p9"/>
          <p:cNvSpPr/>
          <p:nvPr/>
        </p:nvSpPr>
        <p:spPr>
          <a:xfrm>
            <a:off x="3886200" y="3931920"/>
            <a:ext cx="868680" cy="237744"/>
          </a:xfrm>
          <a:prstGeom prst="roundRect">
            <a:avLst>
              <a:gd fmla="val 50000" name="adj"/>
            </a:avLst>
          </a:prstGeom>
          <a:solidFill>
            <a:srgbClr val="15171A"/>
          </a:solidFill>
          <a:ln cap="flat" cmpd="sng" w="15875">
            <a:solidFill>
              <a:srgbClr val="1517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txBox="1"/>
          <p:nvPr/>
        </p:nvSpPr>
        <p:spPr>
          <a:xfrm>
            <a:off x="3886200" y="3931920"/>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GIÀ OGGI</a:t>
            </a:r>
            <a:endParaRPr b="0" i="0" sz="850" u="none" cap="none" strike="noStrike">
              <a:solidFill>
                <a:schemeClr val="dk1"/>
              </a:solidFill>
              <a:latin typeface="Calibri"/>
              <a:ea typeface="Calibri"/>
              <a:cs typeface="Calibri"/>
              <a:sym typeface="Calibri"/>
            </a:endParaRPr>
          </a:p>
        </p:txBody>
      </p:sp>
      <p:sp>
        <p:nvSpPr>
          <p:cNvPr id="192" name="Google Shape;192;p9"/>
          <p:cNvSpPr txBox="1"/>
          <p:nvPr/>
        </p:nvSpPr>
        <p:spPr>
          <a:xfrm>
            <a:off x="4892040" y="3886200"/>
            <a:ext cx="37033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200"/>
              <a:buFont typeface="Arial"/>
              <a:buNone/>
            </a:pPr>
            <a:r>
              <a:rPr b="0" i="0" lang="en-US" sz="1200" u="none" cap="none" strike="noStrike">
                <a:solidFill>
                  <a:srgbClr val="15171A"/>
                </a:solidFill>
                <a:latin typeface="Arial"/>
                <a:ea typeface="Arial"/>
                <a:cs typeface="Arial"/>
                <a:sym typeface="Arial"/>
              </a:rPr>
              <a:t>Nessun database né log dei contenuti; «Cancella tutto» sempre visibile</a:t>
            </a:r>
            <a:endParaRPr b="0" i="0" sz="1200" u="none" cap="none" strike="noStrike">
              <a:solidFill>
                <a:schemeClr val="dk1"/>
              </a:solidFill>
              <a:latin typeface="Calibri"/>
              <a:ea typeface="Calibri"/>
              <a:cs typeface="Calibri"/>
              <a:sym typeface="Calibri"/>
            </a:endParaRPr>
          </a:p>
        </p:txBody>
      </p:sp>
      <p:sp>
        <p:nvSpPr>
          <p:cNvPr id="193" name="Google Shape;193;p9"/>
          <p:cNvSpPr txBox="1"/>
          <p:nvPr/>
        </p:nvSpPr>
        <p:spPr>
          <a:xfrm>
            <a:off x="548640" y="4736592"/>
            <a:ext cx="8046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Anche con le pecette il verbale resta un dato sanitario pseudonimizzato, non anonimo (EDPB, Linee guida 01/2025).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5E9"/>
        </a:solidFill>
      </p:bgPr>
    </p:bg>
    <p:spTree>
      <p:nvGrpSpPr>
        <p:cNvPr id="198" name="Shape 198"/>
        <p:cNvGrpSpPr/>
        <p:nvPr/>
      </p:nvGrpSpPr>
      <p:grpSpPr>
        <a:xfrm>
          <a:off x="0" y="0"/>
          <a:ext cx="0" cy="0"/>
          <a:chOff x="0" y="0"/>
          <a:chExt cx="0" cy="0"/>
        </a:xfrm>
      </p:grpSpPr>
      <p:sp>
        <p:nvSpPr>
          <p:cNvPr id="199" name="Google Shape;199;h1c30e251418f18d3_1_24"/>
          <p:cNvSpPr txBox="1"/>
          <p:nvPr/>
        </p:nvSpPr>
        <p:spPr>
          <a:xfrm>
            <a:off x="548640" y="384048"/>
            <a:ext cx="8046600" cy="56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3000"/>
              <a:buFont typeface="Arial"/>
              <a:buNone/>
            </a:pPr>
            <a:r>
              <a:rPr b="1" lang="en-US" sz="3000">
                <a:solidFill>
                  <a:srgbClr val="15171A"/>
                </a:solidFill>
              </a:rPr>
              <a:t>Le nostre promesse</a:t>
            </a:r>
            <a:endParaRPr b="0" i="0" sz="3000" u="none" cap="none" strike="noStrike">
              <a:solidFill>
                <a:schemeClr val="dk1"/>
              </a:solidFill>
              <a:latin typeface="Calibri"/>
              <a:ea typeface="Calibri"/>
              <a:cs typeface="Calibri"/>
              <a:sym typeface="Calibri"/>
            </a:endParaRPr>
          </a:p>
        </p:txBody>
      </p:sp>
      <p:pic>
        <p:nvPicPr>
          <p:cNvPr id="200" name="Google Shape;200;h1c30e251418f18d3_1_24" title="Screenshot 2026-10-03 at 15.25.11.png"/>
          <p:cNvPicPr preferRelativeResize="0"/>
          <p:nvPr/>
        </p:nvPicPr>
        <p:blipFill rotWithShape="1">
          <a:blip r:embed="rId3">
            <a:alphaModFix/>
          </a:blip>
          <a:srcRect b="23865" l="3364" r="3699" t="17152"/>
          <a:stretch/>
        </p:blipFill>
        <p:spPr>
          <a:xfrm>
            <a:off x="100865" y="1693287"/>
            <a:ext cx="9033252" cy="214137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CD8"/>
        </a:solidFill>
      </p:bgPr>
    </p:bg>
    <p:spTree>
      <p:nvGrpSpPr>
        <p:cNvPr id="205" name="Shape 205"/>
        <p:cNvGrpSpPr/>
        <p:nvPr/>
      </p:nvGrpSpPr>
      <p:grpSpPr>
        <a:xfrm>
          <a:off x="0" y="0"/>
          <a:ext cx="0" cy="0"/>
          <a:chOff x="0" y="0"/>
          <a:chExt cx="0" cy="0"/>
        </a:xfrm>
      </p:grpSpPr>
      <p:sp>
        <p:nvSpPr>
          <p:cNvPr id="206" name="Google Shape;206;p10"/>
          <p:cNvSpPr txBox="1"/>
          <p:nvPr/>
        </p:nvSpPr>
        <p:spPr>
          <a:xfrm>
            <a:off x="548640" y="384048"/>
            <a:ext cx="804672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2800"/>
              <a:buFont typeface="Arial"/>
              <a:buNone/>
            </a:pPr>
            <a:r>
              <a:rPr b="1" i="0" lang="en-US" sz="2800" u="none" cap="none" strike="noStrike">
                <a:solidFill>
                  <a:srgbClr val="15171A"/>
                </a:solidFill>
                <a:latin typeface="Arial"/>
                <a:ea typeface="Arial"/>
                <a:cs typeface="Arial"/>
                <a:sym typeface="Arial"/>
              </a:rPr>
              <a:t>Le garanzie per il Comune</a:t>
            </a:r>
            <a:endParaRPr b="0" i="0" sz="2800" u="none" cap="none" strike="noStrike">
              <a:solidFill>
                <a:schemeClr val="dk1"/>
              </a:solidFill>
              <a:latin typeface="Calibri"/>
              <a:ea typeface="Calibri"/>
              <a:cs typeface="Calibri"/>
              <a:sym typeface="Calibri"/>
            </a:endParaRPr>
          </a:p>
        </p:txBody>
      </p:sp>
      <p:sp>
        <p:nvSpPr>
          <p:cNvPr id="207" name="Google Shape;207;p10"/>
          <p:cNvSpPr/>
          <p:nvPr/>
        </p:nvSpPr>
        <p:spPr>
          <a:xfrm>
            <a:off x="548640" y="1097280"/>
            <a:ext cx="2560320" cy="1298448"/>
          </a:xfrm>
          <a:prstGeom prst="roundRect">
            <a:avLst>
              <a:gd fmla="val 5634" name="adj"/>
            </a:avLst>
          </a:prstGeom>
          <a:solidFill>
            <a:schemeClr val="lt1"/>
          </a:solidFill>
          <a:ln cap="flat" cmpd="sng" w="12700">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a:off x="731520" y="1280160"/>
            <a:ext cx="384048" cy="384048"/>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9" name="Google Shape;209;p10"/>
          <p:cNvPicPr preferRelativeResize="0"/>
          <p:nvPr/>
        </p:nvPicPr>
        <p:blipFill rotWithShape="1">
          <a:blip r:embed="rId3">
            <a:alphaModFix/>
          </a:blip>
          <a:srcRect b="0" l="0" r="0" t="0"/>
          <a:stretch/>
        </p:blipFill>
        <p:spPr>
          <a:xfrm>
            <a:off x="831372" y="1380012"/>
            <a:ext cx="184343" cy="184343"/>
          </a:xfrm>
          <a:prstGeom prst="rect">
            <a:avLst/>
          </a:prstGeom>
          <a:noFill/>
          <a:ln>
            <a:noFill/>
          </a:ln>
        </p:spPr>
      </p:pic>
      <p:sp>
        <p:nvSpPr>
          <p:cNvPr id="210" name="Google Shape;210;p10"/>
          <p:cNvSpPr txBox="1"/>
          <p:nvPr/>
        </p:nvSpPr>
        <p:spPr>
          <a:xfrm>
            <a:off x="1234440" y="1280160"/>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171A"/>
              </a:buClr>
              <a:buSzPts val="1350"/>
              <a:buFont typeface="Arial"/>
              <a:buNone/>
            </a:pPr>
            <a:r>
              <a:rPr b="1" i="0" lang="en-US" sz="1350" u="none" cap="none" strike="noStrike">
                <a:solidFill>
                  <a:srgbClr val="15171A"/>
                </a:solidFill>
                <a:latin typeface="Arial"/>
                <a:ea typeface="Arial"/>
                <a:cs typeface="Arial"/>
                <a:sym typeface="Arial"/>
              </a:rPr>
              <a:t>Ruoli chiari</a:t>
            </a:r>
            <a:endParaRPr b="0" i="0" sz="1350" u="none" cap="none" strike="noStrike">
              <a:solidFill>
                <a:schemeClr val="dk1"/>
              </a:solidFill>
              <a:latin typeface="Calibri"/>
              <a:ea typeface="Calibri"/>
              <a:cs typeface="Calibri"/>
              <a:sym typeface="Calibri"/>
            </a:endParaRPr>
          </a:p>
        </p:txBody>
      </p:sp>
      <p:sp>
        <p:nvSpPr>
          <p:cNvPr id="211" name="Google Shape;211;p10"/>
          <p:cNvSpPr txBox="1"/>
          <p:nvPr/>
        </p:nvSpPr>
        <p:spPr>
          <a:xfrm>
            <a:off x="731520" y="1737360"/>
            <a:ext cx="2194560"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B4048"/>
              </a:buClr>
              <a:buSzPts val="1000"/>
              <a:buFont typeface="Arial"/>
              <a:buNone/>
            </a:pPr>
            <a:r>
              <a:rPr b="0" i="0" lang="en-US" sz="1000" u="none" cap="none" strike="noStrike">
                <a:solidFill>
                  <a:srgbClr val="3B4048"/>
                </a:solidFill>
                <a:latin typeface="Arial"/>
                <a:ea typeface="Arial"/>
                <a:cs typeface="Arial"/>
                <a:sym typeface="Arial"/>
              </a:rPr>
              <a:t>Comune titolare, fornitore responsabile (art. 28), cloud sub-responsabile con accordo sul trattamento</a:t>
            </a:r>
            <a:endParaRPr b="0" i="0" sz="1000" u="none" cap="none" strike="noStrike">
              <a:solidFill>
                <a:schemeClr val="dk1"/>
              </a:solidFill>
              <a:latin typeface="Calibri"/>
              <a:ea typeface="Calibri"/>
              <a:cs typeface="Calibri"/>
              <a:sym typeface="Calibri"/>
            </a:endParaRPr>
          </a:p>
        </p:txBody>
      </p:sp>
      <p:sp>
        <p:nvSpPr>
          <p:cNvPr id="212" name="Google Shape;212;p10"/>
          <p:cNvSpPr/>
          <p:nvPr/>
        </p:nvSpPr>
        <p:spPr>
          <a:xfrm>
            <a:off x="3291840" y="1097280"/>
            <a:ext cx="2560320" cy="1298448"/>
          </a:xfrm>
          <a:prstGeom prst="roundRect">
            <a:avLst>
              <a:gd fmla="val 5634" name="adj"/>
            </a:avLst>
          </a:prstGeom>
          <a:solidFill>
            <a:schemeClr val="lt1"/>
          </a:solidFill>
          <a:ln cap="flat" cmpd="sng" w="12700">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3474720" y="1280160"/>
            <a:ext cx="384048" cy="384048"/>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4" name="Google Shape;214;p10"/>
          <p:cNvPicPr preferRelativeResize="0"/>
          <p:nvPr/>
        </p:nvPicPr>
        <p:blipFill rotWithShape="1">
          <a:blip r:embed="rId4">
            <a:alphaModFix/>
          </a:blip>
          <a:srcRect b="0" l="0" r="0" t="0"/>
          <a:stretch/>
        </p:blipFill>
        <p:spPr>
          <a:xfrm>
            <a:off x="3574572" y="1380012"/>
            <a:ext cx="184343" cy="184343"/>
          </a:xfrm>
          <a:prstGeom prst="rect">
            <a:avLst/>
          </a:prstGeom>
          <a:noFill/>
          <a:ln>
            <a:noFill/>
          </a:ln>
        </p:spPr>
      </p:pic>
      <p:sp>
        <p:nvSpPr>
          <p:cNvPr id="215" name="Google Shape;215;p10"/>
          <p:cNvSpPr txBox="1"/>
          <p:nvPr/>
        </p:nvSpPr>
        <p:spPr>
          <a:xfrm>
            <a:off x="3977640" y="1280160"/>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171A"/>
              </a:buClr>
              <a:buSzPts val="1350"/>
              <a:buFont typeface="Arial"/>
              <a:buNone/>
            </a:pPr>
            <a:r>
              <a:rPr b="1" i="0" lang="en-US" sz="1350" u="none" cap="none" strike="noStrike">
                <a:solidFill>
                  <a:srgbClr val="15171A"/>
                </a:solidFill>
                <a:latin typeface="Arial"/>
                <a:ea typeface="Arial"/>
                <a:cs typeface="Arial"/>
                <a:sym typeface="Arial"/>
              </a:rPr>
              <a:t>Dati </a:t>
            </a:r>
            <a:r>
              <a:rPr b="1" lang="en-US" sz="1350">
                <a:solidFill>
                  <a:srgbClr val="15171A"/>
                </a:solidFill>
              </a:rPr>
              <a:t>in Italia</a:t>
            </a:r>
            <a:endParaRPr b="0" i="0" sz="1350" u="none" cap="none" strike="noStrike">
              <a:solidFill>
                <a:schemeClr val="dk1"/>
              </a:solidFill>
              <a:latin typeface="Calibri"/>
              <a:ea typeface="Calibri"/>
              <a:cs typeface="Calibri"/>
              <a:sym typeface="Calibri"/>
            </a:endParaRPr>
          </a:p>
        </p:txBody>
      </p:sp>
      <p:sp>
        <p:nvSpPr>
          <p:cNvPr id="216" name="Google Shape;216;p10"/>
          <p:cNvSpPr txBox="1"/>
          <p:nvPr/>
        </p:nvSpPr>
        <p:spPr>
          <a:xfrm>
            <a:off x="3474720" y="1727475"/>
            <a:ext cx="2194500" cy="621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3B4048"/>
                </a:solidFill>
              </a:rPr>
              <a:t>Server e lettura dei documenti in Italia, su cloud qualificato ACN (regioni Milano e Torino, o es. Vianova). A Claude solo righe minimizzate, nell'UE</a:t>
            </a:r>
            <a:endParaRPr sz="950">
              <a:solidFill>
                <a:srgbClr val="3B4048"/>
              </a:solidFill>
            </a:endParaRPr>
          </a:p>
          <a:p>
            <a:pPr indent="0" lvl="0" marL="0" marR="0" rtl="0" algn="l">
              <a:spcBef>
                <a:spcPts val="0"/>
              </a:spcBef>
              <a:spcAft>
                <a:spcPts val="0"/>
              </a:spcAft>
              <a:buClr>
                <a:srgbClr val="3B4048"/>
              </a:buClr>
              <a:buSzPts val="1000"/>
              <a:buFont typeface="Arial"/>
              <a:buNone/>
            </a:pPr>
            <a:r>
              <a:t/>
            </a:r>
            <a:endParaRPr sz="1000">
              <a:solidFill>
                <a:srgbClr val="3B4048"/>
              </a:solidFill>
            </a:endParaRPr>
          </a:p>
        </p:txBody>
      </p:sp>
      <p:sp>
        <p:nvSpPr>
          <p:cNvPr id="217" name="Google Shape;217;p10"/>
          <p:cNvSpPr/>
          <p:nvPr/>
        </p:nvSpPr>
        <p:spPr>
          <a:xfrm>
            <a:off x="6035040" y="1097280"/>
            <a:ext cx="2560320" cy="1298448"/>
          </a:xfrm>
          <a:prstGeom prst="roundRect">
            <a:avLst>
              <a:gd fmla="val 5634" name="adj"/>
            </a:avLst>
          </a:prstGeom>
          <a:solidFill>
            <a:schemeClr val="lt1"/>
          </a:solidFill>
          <a:ln cap="flat" cmpd="sng" w="12700">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6217920" y="1280160"/>
            <a:ext cx="384048" cy="384048"/>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9" name="Google Shape;219;p10"/>
          <p:cNvPicPr preferRelativeResize="0"/>
          <p:nvPr/>
        </p:nvPicPr>
        <p:blipFill rotWithShape="1">
          <a:blip r:embed="rId5">
            <a:alphaModFix/>
          </a:blip>
          <a:srcRect b="0" l="0" r="0" t="0"/>
          <a:stretch/>
        </p:blipFill>
        <p:spPr>
          <a:xfrm>
            <a:off x="6317772" y="1380012"/>
            <a:ext cx="184343" cy="184343"/>
          </a:xfrm>
          <a:prstGeom prst="rect">
            <a:avLst/>
          </a:prstGeom>
          <a:noFill/>
          <a:ln>
            <a:noFill/>
          </a:ln>
        </p:spPr>
      </p:pic>
      <p:sp>
        <p:nvSpPr>
          <p:cNvPr id="220" name="Google Shape;220;p10"/>
          <p:cNvSpPr txBox="1"/>
          <p:nvPr/>
        </p:nvSpPr>
        <p:spPr>
          <a:xfrm>
            <a:off x="6720840" y="1280160"/>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171A"/>
              </a:buClr>
              <a:buSzPts val="1350"/>
              <a:buFont typeface="Arial"/>
              <a:buNone/>
            </a:pPr>
            <a:r>
              <a:rPr b="1" i="0" lang="en-US" sz="1350" u="none" cap="none" strike="noStrike">
                <a:solidFill>
                  <a:srgbClr val="15171A"/>
                </a:solidFill>
                <a:latin typeface="Arial"/>
                <a:ea typeface="Arial"/>
                <a:cs typeface="Arial"/>
                <a:sym typeface="Arial"/>
              </a:rPr>
              <a:t>DPIA prima del pilota</a:t>
            </a:r>
            <a:endParaRPr b="0" i="0" sz="1350" u="none" cap="none" strike="noStrike">
              <a:solidFill>
                <a:schemeClr val="dk1"/>
              </a:solidFill>
              <a:latin typeface="Calibri"/>
              <a:ea typeface="Calibri"/>
              <a:cs typeface="Calibri"/>
              <a:sym typeface="Calibri"/>
            </a:endParaRPr>
          </a:p>
        </p:txBody>
      </p:sp>
      <p:sp>
        <p:nvSpPr>
          <p:cNvPr id="221" name="Google Shape;221;p10"/>
          <p:cNvSpPr txBox="1"/>
          <p:nvPr/>
        </p:nvSpPr>
        <p:spPr>
          <a:xfrm>
            <a:off x="6217920" y="1737360"/>
            <a:ext cx="2194560"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B4048"/>
              </a:buClr>
              <a:buSzPts val="1000"/>
              <a:buFont typeface="Arial"/>
              <a:buNone/>
            </a:pPr>
            <a:r>
              <a:rPr b="0" i="0" lang="en-US" sz="1000" u="none" cap="none" strike="noStrike">
                <a:solidFill>
                  <a:srgbClr val="3B4048"/>
                </a:solidFill>
                <a:latin typeface="Arial"/>
                <a:ea typeface="Arial"/>
                <a:cs typeface="Arial"/>
                <a:sym typeface="Arial"/>
              </a:rPr>
              <a:t>Obbligatoria: dati sanitari, persone vulnerabili, nuova tecnologia (Garante, provv. 467/2018)</a:t>
            </a:r>
            <a:endParaRPr b="0" i="0" sz="1000" u="none" cap="none" strike="noStrike">
              <a:solidFill>
                <a:schemeClr val="dk1"/>
              </a:solidFill>
              <a:latin typeface="Calibri"/>
              <a:ea typeface="Calibri"/>
              <a:cs typeface="Calibri"/>
              <a:sym typeface="Calibri"/>
            </a:endParaRPr>
          </a:p>
        </p:txBody>
      </p:sp>
      <p:sp>
        <p:nvSpPr>
          <p:cNvPr id="222" name="Google Shape;222;p10"/>
          <p:cNvSpPr/>
          <p:nvPr/>
        </p:nvSpPr>
        <p:spPr>
          <a:xfrm>
            <a:off x="548640" y="2560320"/>
            <a:ext cx="2560320" cy="1298448"/>
          </a:xfrm>
          <a:prstGeom prst="roundRect">
            <a:avLst>
              <a:gd fmla="val 5634" name="adj"/>
            </a:avLst>
          </a:prstGeom>
          <a:solidFill>
            <a:schemeClr val="lt1"/>
          </a:solidFill>
          <a:ln cap="flat" cmpd="sng" w="12700">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731520" y="2743200"/>
            <a:ext cx="384048" cy="384048"/>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4" name="Google Shape;224;p10"/>
          <p:cNvPicPr preferRelativeResize="0"/>
          <p:nvPr/>
        </p:nvPicPr>
        <p:blipFill rotWithShape="1">
          <a:blip r:embed="rId6">
            <a:alphaModFix/>
          </a:blip>
          <a:srcRect b="0" l="0" r="0" t="0"/>
          <a:stretch/>
        </p:blipFill>
        <p:spPr>
          <a:xfrm>
            <a:off x="831372" y="2843052"/>
            <a:ext cx="184343" cy="184343"/>
          </a:xfrm>
          <a:prstGeom prst="rect">
            <a:avLst/>
          </a:prstGeom>
          <a:noFill/>
          <a:ln>
            <a:noFill/>
          </a:ln>
        </p:spPr>
      </p:pic>
      <p:sp>
        <p:nvSpPr>
          <p:cNvPr id="225" name="Google Shape;225;p10"/>
          <p:cNvSpPr txBox="1"/>
          <p:nvPr/>
        </p:nvSpPr>
        <p:spPr>
          <a:xfrm>
            <a:off x="1234440" y="2743200"/>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171A"/>
              </a:buClr>
              <a:buSzPts val="1350"/>
              <a:buFont typeface="Arial"/>
              <a:buNone/>
            </a:pPr>
            <a:r>
              <a:rPr b="1" i="0" lang="en-US" sz="1350" u="none" cap="none" strike="noStrike">
                <a:solidFill>
                  <a:srgbClr val="15171A"/>
                </a:solidFill>
                <a:latin typeface="Arial"/>
                <a:ea typeface="Arial"/>
                <a:cs typeface="Arial"/>
                <a:sym typeface="Arial"/>
              </a:rPr>
              <a:t>Base giuridica</a:t>
            </a:r>
            <a:endParaRPr b="0" i="0" sz="1350" u="none" cap="none" strike="noStrike">
              <a:solidFill>
                <a:schemeClr val="dk1"/>
              </a:solidFill>
              <a:latin typeface="Calibri"/>
              <a:ea typeface="Calibri"/>
              <a:cs typeface="Calibri"/>
              <a:sym typeface="Calibri"/>
            </a:endParaRPr>
          </a:p>
        </p:txBody>
      </p:sp>
      <p:sp>
        <p:nvSpPr>
          <p:cNvPr id="226" name="Google Shape;226;p10"/>
          <p:cNvSpPr txBox="1"/>
          <p:nvPr/>
        </p:nvSpPr>
        <p:spPr>
          <a:xfrm>
            <a:off x="731520" y="3200400"/>
            <a:ext cx="2194560"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B4048"/>
              </a:buClr>
              <a:buSzPts val="1000"/>
              <a:buFont typeface="Arial"/>
              <a:buNone/>
            </a:pPr>
            <a:r>
              <a:rPr b="0" i="0" lang="en-US" sz="1000" u="none" cap="none" strike="noStrike">
                <a:solidFill>
                  <a:srgbClr val="3B4048"/>
                </a:solidFill>
                <a:latin typeface="Arial"/>
                <a:ea typeface="Arial"/>
                <a:cs typeface="Arial"/>
                <a:sym typeface="Arial"/>
              </a:rPr>
              <a:t>Art. 9(2)(g) GDPR e art. 2-sexies Codice privacy, collegati al procedimento CUDE</a:t>
            </a:r>
            <a:endParaRPr b="0" i="0" sz="1000" u="none" cap="none" strike="noStrike">
              <a:solidFill>
                <a:schemeClr val="dk1"/>
              </a:solidFill>
              <a:latin typeface="Calibri"/>
              <a:ea typeface="Calibri"/>
              <a:cs typeface="Calibri"/>
              <a:sym typeface="Calibri"/>
            </a:endParaRPr>
          </a:p>
        </p:txBody>
      </p:sp>
      <p:sp>
        <p:nvSpPr>
          <p:cNvPr id="227" name="Google Shape;227;p10"/>
          <p:cNvSpPr/>
          <p:nvPr/>
        </p:nvSpPr>
        <p:spPr>
          <a:xfrm>
            <a:off x="3291840" y="2560320"/>
            <a:ext cx="2560320" cy="1298448"/>
          </a:xfrm>
          <a:prstGeom prst="roundRect">
            <a:avLst>
              <a:gd fmla="val 5634" name="adj"/>
            </a:avLst>
          </a:prstGeom>
          <a:solidFill>
            <a:schemeClr val="lt1"/>
          </a:solidFill>
          <a:ln cap="flat" cmpd="sng" w="12700">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3474720" y="2743200"/>
            <a:ext cx="384048" cy="384048"/>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9" name="Google Shape;229;p10"/>
          <p:cNvPicPr preferRelativeResize="0"/>
          <p:nvPr/>
        </p:nvPicPr>
        <p:blipFill rotWithShape="1">
          <a:blip r:embed="rId7">
            <a:alphaModFix/>
          </a:blip>
          <a:srcRect b="0" l="0" r="0" t="0"/>
          <a:stretch/>
        </p:blipFill>
        <p:spPr>
          <a:xfrm>
            <a:off x="3574572" y="2843052"/>
            <a:ext cx="184343" cy="184343"/>
          </a:xfrm>
          <a:prstGeom prst="rect">
            <a:avLst/>
          </a:prstGeom>
          <a:noFill/>
          <a:ln>
            <a:noFill/>
          </a:ln>
        </p:spPr>
      </p:pic>
      <p:sp>
        <p:nvSpPr>
          <p:cNvPr id="230" name="Google Shape;230;p10"/>
          <p:cNvSpPr txBox="1"/>
          <p:nvPr/>
        </p:nvSpPr>
        <p:spPr>
          <a:xfrm>
            <a:off x="3977640" y="2743200"/>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171A"/>
              </a:buClr>
              <a:buSzPts val="1350"/>
              <a:buFont typeface="Arial"/>
              <a:buNone/>
            </a:pPr>
            <a:r>
              <a:rPr b="1" i="0" lang="en-US" sz="1350" u="none" cap="none" strike="noStrike">
                <a:solidFill>
                  <a:srgbClr val="15171A"/>
                </a:solidFill>
                <a:latin typeface="Arial"/>
                <a:ea typeface="Arial"/>
                <a:cs typeface="Arial"/>
                <a:sym typeface="Arial"/>
              </a:rPr>
              <a:t>Decide una persona</a:t>
            </a:r>
            <a:endParaRPr b="0" i="0" sz="1350" u="none" cap="none" strike="noStrike">
              <a:solidFill>
                <a:schemeClr val="dk1"/>
              </a:solidFill>
              <a:latin typeface="Calibri"/>
              <a:ea typeface="Calibri"/>
              <a:cs typeface="Calibri"/>
              <a:sym typeface="Calibri"/>
            </a:endParaRPr>
          </a:p>
        </p:txBody>
      </p:sp>
      <p:sp>
        <p:nvSpPr>
          <p:cNvPr id="231" name="Google Shape;231;p10"/>
          <p:cNvSpPr txBox="1"/>
          <p:nvPr/>
        </p:nvSpPr>
        <p:spPr>
          <a:xfrm>
            <a:off x="3474720" y="3200400"/>
            <a:ext cx="2194560"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B4048"/>
              </a:buClr>
              <a:buSzPts val="1000"/>
              <a:buFont typeface="Arial"/>
              <a:buNone/>
            </a:pPr>
            <a:r>
              <a:rPr b="0" i="0" lang="en-US" sz="1000" u="none" cap="none" strike="noStrike">
                <a:solidFill>
                  <a:srgbClr val="3B4048"/>
                </a:solidFill>
                <a:latin typeface="Arial"/>
                <a:ea typeface="Arial"/>
                <a:cs typeface="Arial"/>
                <a:sym typeface="Arial"/>
              </a:rPr>
              <a:t>Art. 22 GDPR, art. 14 L. 132/2025; avviso «stai parlando con un'IA» (AI Act art. 50)</a:t>
            </a:r>
            <a:endParaRPr b="0" i="0" sz="1000" u="none" cap="none" strike="noStrike">
              <a:solidFill>
                <a:schemeClr val="dk1"/>
              </a:solidFill>
              <a:latin typeface="Calibri"/>
              <a:ea typeface="Calibri"/>
              <a:cs typeface="Calibri"/>
              <a:sym typeface="Calibri"/>
            </a:endParaRPr>
          </a:p>
        </p:txBody>
      </p:sp>
      <p:sp>
        <p:nvSpPr>
          <p:cNvPr id="232" name="Google Shape;232;p10"/>
          <p:cNvSpPr/>
          <p:nvPr/>
        </p:nvSpPr>
        <p:spPr>
          <a:xfrm>
            <a:off x="6035040" y="2560320"/>
            <a:ext cx="2560320" cy="1298448"/>
          </a:xfrm>
          <a:prstGeom prst="roundRect">
            <a:avLst>
              <a:gd fmla="val 5634" name="adj"/>
            </a:avLst>
          </a:prstGeom>
          <a:solidFill>
            <a:schemeClr val="lt1"/>
          </a:solidFill>
          <a:ln cap="flat" cmpd="sng" w="12700">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6217920" y="2743200"/>
            <a:ext cx="384048" cy="384048"/>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4" name="Google Shape;234;p10"/>
          <p:cNvPicPr preferRelativeResize="0"/>
          <p:nvPr/>
        </p:nvPicPr>
        <p:blipFill rotWithShape="1">
          <a:blip r:embed="rId8">
            <a:alphaModFix/>
          </a:blip>
          <a:srcRect b="0" l="0" r="0" t="0"/>
          <a:stretch/>
        </p:blipFill>
        <p:spPr>
          <a:xfrm>
            <a:off x="6317772" y="2843052"/>
            <a:ext cx="184343" cy="184343"/>
          </a:xfrm>
          <a:prstGeom prst="rect">
            <a:avLst/>
          </a:prstGeom>
          <a:noFill/>
          <a:ln>
            <a:noFill/>
          </a:ln>
        </p:spPr>
      </p:pic>
      <p:sp>
        <p:nvSpPr>
          <p:cNvPr id="235" name="Google Shape;235;p10"/>
          <p:cNvSpPr txBox="1"/>
          <p:nvPr/>
        </p:nvSpPr>
        <p:spPr>
          <a:xfrm>
            <a:off x="6720840" y="2743200"/>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171A"/>
              </a:buClr>
              <a:buSzPts val="1350"/>
              <a:buFont typeface="Arial"/>
              <a:buNone/>
            </a:pPr>
            <a:r>
              <a:rPr b="1" i="0" lang="en-US" sz="1350" u="none" cap="none" strike="noStrike">
                <a:solidFill>
                  <a:srgbClr val="15171A"/>
                </a:solidFill>
                <a:latin typeface="Arial"/>
                <a:ea typeface="Arial"/>
                <a:cs typeface="Arial"/>
                <a:sym typeface="Arial"/>
              </a:rPr>
              <a:t>Informativa semplice</a:t>
            </a:r>
            <a:endParaRPr b="0" i="0" sz="1350" u="none" cap="none" strike="noStrike">
              <a:solidFill>
                <a:schemeClr val="dk1"/>
              </a:solidFill>
              <a:latin typeface="Calibri"/>
              <a:ea typeface="Calibri"/>
              <a:cs typeface="Calibri"/>
              <a:sym typeface="Calibri"/>
            </a:endParaRPr>
          </a:p>
        </p:txBody>
      </p:sp>
      <p:sp>
        <p:nvSpPr>
          <p:cNvPr id="236" name="Google Shape;236;p10"/>
          <p:cNvSpPr txBox="1"/>
          <p:nvPr/>
        </p:nvSpPr>
        <p:spPr>
          <a:xfrm>
            <a:off x="6217920" y="3200400"/>
            <a:ext cx="2194560"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B4048"/>
              </a:buClr>
              <a:buSzPts val="1000"/>
              <a:buFont typeface="Arial"/>
              <a:buNone/>
            </a:pPr>
            <a:r>
              <a:rPr b="0" i="0" lang="en-US" sz="1000" u="none" cap="none" strike="noStrike">
                <a:solidFill>
                  <a:srgbClr val="3B4048"/>
                </a:solidFill>
                <a:latin typeface="Arial"/>
                <a:ea typeface="Arial"/>
                <a:cs typeface="Arial"/>
                <a:sym typeface="Arial"/>
              </a:rPr>
              <a:t>Linguaggio chiaro, mostrata prima del caricamento, scritta per chi ha 80 anni</a:t>
            </a:r>
            <a:endParaRPr b="0" i="0" sz="1000" u="none" cap="none" strike="noStrike">
              <a:solidFill>
                <a:schemeClr val="dk1"/>
              </a:solidFill>
              <a:latin typeface="Calibri"/>
              <a:ea typeface="Calibri"/>
              <a:cs typeface="Calibri"/>
              <a:sym typeface="Calibri"/>
            </a:endParaRPr>
          </a:p>
        </p:txBody>
      </p:sp>
      <p:sp>
        <p:nvSpPr>
          <p:cNvPr id="237" name="Google Shape;237;p10"/>
          <p:cNvSpPr/>
          <p:nvPr/>
        </p:nvSpPr>
        <p:spPr>
          <a:xfrm>
            <a:off x="548640" y="4069080"/>
            <a:ext cx="8046720" cy="548640"/>
          </a:xfrm>
          <a:prstGeom prst="roundRect">
            <a:avLst>
              <a:gd fmla="val 13333" name="adj"/>
            </a:avLst>
          </a:prstGeom>
          <a:solidFill>
            <a:srgbClr val="15171A"/>
          </a:solidFill>
          <a:ln cap="flat" cmpd="sng" w="12700">
            <a:solidFill>
              <a:srgbClr val="1517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txBox="1"/>
          <p:nvPr/>
        </p:nvSpPr>
        <p:spPr>
          <a:xfrm>
            <a:off x="777240" y="4069080"/>
            <a:ext cx="7680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Arial"/>
              <a:buNone/>
            </a:pPr>
            <a:r>
              <a:rPr b="1" i="0" lang="en-US" sz="1250" u="none" cap="none" strike="noStrike">
                <a:solidFill>
                  <a:srgbClr val="FFFFFF"/>
                </a:solidFill>
                <a:latin typeface="Arial"/>
                <a:ea typeface="Arial"/>
                <a:cs typeface="Arial"/>
                <a:sym typeface="Arial"/>
              </a:rPr>
              <a:t>Da decidere con il DPO: </a:t>
            </a:r>
            <a:r>
              <a:rPr b="0" i="0" lang="en-US" sz="1250" u="none" cap="none" strike="noStrike">
                <a:solidFill>
                  <a:srgbClr val="FFFFFF"/>
                </a:solidFill>
                <a:latin typeface="Arial"/>
                <a:ea typeface="Arial"/>
                <a:cs typeface="Arial"/>
                <a:sym typeface="Arial"/>
              </a:rPr>
              <a:t>canale UE o conservazione zero, DPIA, modalità predefinita</a:t>
            </a:r>
            <a:endParaRPr b="0" i="0" sz="1250" u="none" cap="none" strike="noStrike">
              <a:solidFill>
                <a:schemeClr val="dk1"/>
              </a:solidFill>
              <a:latin typeface="Calibri"/>
              <a:ea typeface="Calibri"/>
              <a:cs typeface="Calibri"/>
              <a:sym typeface="Calibri"/>
            </a:endParaRPr>
          </a:p>
        </p:txBody>
      </p:sp>
      <p:sp>
        <p:nvSpPr>
          <p:cNvPr id="239" name="Google Shape;239;p10"/>
          <p:cNvSpPr txBox="1"/>
          <p:nvPr/>
        </p:nvSpPr>
        <p:spPr>
          <a:xfrm>
            <a:off x="548640" y="4736592"/>
            <a:ext cx="8046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Fonti: documentazione Anthropic e AWS su conservazione e residenza dei dati; Garante privacy; L. 132/2025. Dettagli nel report allegato.</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CD8"/>
        </a:solidFill>
      </p:bgPr>
    </p:bg>
    <p:spTree>
      <p:nvGrpSpPr>
        <p:cNvPr id="244" name="Shape 244"/>
        <p:cNvGrpSpPr/>
        <p:nvPr/>
      </p:nvGrpSpPr>
      <p:grpSpPr>
        <a:xfrm>
          <a:off x="0" y="0"/>
          <a:ext cx="0" cy="0"/>
          <a:chOff x="0" y="0"/>
          <a:chExt cx="0" cy="0"/>
        </a:xfrm>
      </p:grpSpPr>
      <p:sp>
        <p:nvSpPr>
          <p:cNvPr id="245" name="Google Shape;245;p11"/>
          <p:cNvSpPr txBox="1"/>
          <p:nvPr/>
        </p:nvSpPr>
        <p:spPr>
          <a:xfrm>
            <a:off x="548640" y="384048"/>
            <a:ext cx="804672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3000"/>
              <a:buFont typeface="Arial"/>
              <a:buNone/>
            </a:pPr>
            <a:r>
              <a:rPr b="1" i="0" lang="en-US" sz="3000" u="none" cap="none" strike="noStrike">
                <a:solidFill>
                  <a:srgbClr val="15171A"/>
                </a:solidFill>
                <a:latin typeface="Arial"/>
                <a:ea typeface="Arial"/>
                <a:cs typeface="Arial"/>
                <a:sym typeface="Arial"/>
              </a:rPr>
              <a:t>Vantaggi per tutti</a:t>
            </a:r>
            <a:endParaRPr b="0" i="0" sz="3000" u="none" cap="none" strike="noStrike">
              <a:solidFill>
                <a:schemeClr val="dk1"/>
              </a:solidFill>
              <a:latin typeface="Calibri"/>
              <a:ea typeface="Calibri"/>
              <a:cs typeface="Calibri"/>
              <a:sym typeface="Calibri"/>
            </a:endParaRPr>
          </a:p>
        </p:txBody>
      </p:sp>
      <p:sp>
        <p:nvSpPr>
          <p:cNvPr id="246" name="Google Shape;246;p11"/>
          <p:cNvSpPr/>
          <p:nvPr/>
        </p:nvSpPr>
        <p:spPr>
          <a:xfrm>
            <a:off x="548640" y="1234440"/>
            <a:ext cx="2560320" cy="2514600"/>
          </a:xfrm>
          <a:prstGeom prst="roundRect">
            <a:avLst>
              <a:gd fmla="val 4364" name="adj"/>
            </a:avLst>
          </a:prstGeom>
          <a:solidFill>
            <a:schemeClr val="lt1"/>
          </a:solidFill>
          <a:ln cap="flat" cmpd="sng" w="12700">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822960" y="1463040"/>
            <a:ext cx="594360" cy="59436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8" name="Google Shape;248;p11"/>
          <p:cNvPicPr preferRelativeResize="0"/>
          <p:nvPr/>
        </p:nvPicPr>
        <p:blipFill rotWithShape="1">
          <a:blip r:embed="rId3">
            <a:alphaModFix/>
          </a:blip>
          <a:srcRect b="0" l="0" r="0" t="0"/>
          <a:stretch/>
        </p:blipFill>
        <p:spPr>
          <a:xfrm>
            <a:off x="977494" y="1617574"/>
            <a:ext cx="285293" cy="285293"/>
          </a:xfrm>
          <a:prstGeom prst="rect">
            <a:avLst/>
          </a:prstGeom>
          <a:noFill/>
          <a:ln>
            <a:noFill/>
          </a:ln>
        </p:spPr>
      </p:pic>
      <p:sp>
        <p:nvSpPr>
          <p:cNvPr id="249" name="Google Shape;249;p11"/>
          <p:cNvSpPr txBox="1"/>
          <p:nvPr/>
        </p:nvSpPr>
        <p:spPr>
          <a:xfrm>
            <a:off x="822960" y="224028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2000"/>
              <a:buFont typeface="Arial"/>
              <a:buNone/>
            </a:pPr>
            <a:r>
              <a:rPr b="1" i="0" lang="en-US" sz="2000" u="none" cap="none" strike="noStrike">
                <a:solidFill>
                  <a:srgbClr val="15171A"/>
                </a:solidFill>
                <a:latin typeface="Arial"/>
                <a:ea typeface="Arial"/>
                <a:cs typeface="Arial"/>
                <a:sym typeface="Arial"/>
              </a:rPr>
              <a:t>Cittadini</a:t>
            </a:r>
            <a:endParaRPr b="0" i="0" sz="2000" u="none" cap="none" strike="noStrike">
              <a:solidFill>
                <a:schemeClr val="dk1"/>
              </a:solidFill>
              <a:latin typeface="Calibri"/>
              <a:ea typeface="Calibri"/>
              <a:cs typeface="Calibri"/>
              <a:sym typeface="Calibri"/>
            </a:endParaRPr>
          </a:p>
        </p:txBody>
      </p:sp>
      <p:sp>
        <p:nvSpPr>
          <p:cNvPr id="250" name="Google Shape;250;p11"/>
          <p:cNvSpPr txBox="1"/>
          <p:nvPr/>
        </p:nvSpPr>
        <p:spPr>
          <a:xfrm>
            <a:off x="822960" y="2697480"/>
            <a:ext cx="210312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400"/>
              <a:buFont typeface="Arial"/>
              <a:buNone/>
            </a:pPr>
            <a:r>
              <a:rPr b="0" i="0" lang="en-US" sz="1400" u="none" cap="none" strike="noStrike">
                <a:solidFill>
                  <a:srgbClr val="15171A"/>
                </a:solidFill>
                <a:latin typeface="Arial"/>
                <a:ea typeface="Arial"/>
                <a:cs typeface="Arial"/>
                <a:sym typeface="Arial"/>
              </a:rPr>
              <a:t>Domanda completa al primo invio</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5171A"/>
              </a:buClr>
              <a:buSzPts val="600"/>
              <a:buFont typeface="Arial"/>
              <a:buNone/>
            </a:pPr>
            <a:r>
              <a:rPr b="0" i="0" lang="en-US" sz="600" u="none" cap="none" strike="noStrike">
                <a:solidFill>
                  <a:srgbClr val="15171A"/>
                </a:solidFill>
                <a:latin typeface="Arial"/>
                <a:ea typeface="Arial"/>
                <a:cs typeface="Arial"/>
                <a:sym typeface="Arial"/>
              </a:rPr>
              <a:t>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5171A"/>
              </a:buClr>
              <a:buSzPts val="1400"/>
              <a:buFont typeface="Arial"/>
              <a:buNone/>
            </a:pPr>
            <a:r>
              <a:rPr b="0" i="0" lang="en-US" sz="1400" u="none" cap="none" strike="noStrike">
                <a:solidFill>
                  <a:srgbClr val="15171A"/>
                </a:solidFill>
                <a:latin typeface="Arial"/>
                <a:ea typeface="Arial"/>
                <a:cs typeface="Arial"/>
                <a:sym typeface="Arial"/>
              </a:rPr>
              <a:t>Meno viaggi in via Sile</a:t>
            </a:r>
            <a:endParaRPr b="0" i="0" sz="1400" u="none" cap="none" strike="noStrike">
              <a:solidFill>
                <a:schemeClr val="dk1"/>
              </a:solidFill>
              <a:latin typeface="Calibri"/>
              <a:ea typeface="Calibri"/>
              <a:cs typeface="Calibri"/>
              <a:sym typeface="Calibri"/>
            </a:endParaRPr>
          </a:p>
        </p:txBody>
      </p:sp>
      <p:sp>
        <p:nvSpPr>
          <p:cNvPr id="251" name="Google Shape;251;p11"/>
          <p:cNvSpPr/>
          <p:nvPr/>
        </p:nvSpPr>
        <p:spPr>
          <a:xfrm>
            <a:off x="3291840" y="1234440"/>
            <a:ext cx="2560320" cy="2514600"/>
          </a:xfrm>
          <a:prstGeom prst="roundRect">
            <a:avLst>
              <a:gd fmla="val 4364" name="adj"/>
            </a:avLst>
          </a:prstGeom>
          <a:solidFill>
            <a:schemeClr val="lt1"/>
          </a:solidFill>
          <a:ln cap="flat" cmpd="sng" w="12700">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3566160" y="1463040"/>
            <a:ext cx="594360" cy="59436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3" name="Google Shape;253;p11"/>
          <p:cNvPicPr preferRelativeResize="0"/>
          <p:nvPr/>
        </p:nvPicPr>
        <p:blipFill rotWithShape="1">
          <a:blip r:embed="rId4">
            <a:alphaModFix/>
          </a:blip>
          <a:srcRect b="0" l="0" r="0" t="0"/>
          <a:stretch/>
        </p:blipFill>
        <p:spPr>
          <a:xfrm>
            <a:off x="3720694" y="1617574"/>
            <a:ext cx="285293" cy="285293"/>
          </a:xfrm>
          <a:prstGeom prst="rect">
            <a:avLst/>
          </a:prstGeom>
          <a:noFill/>
          <a:ln>
            <a:noFill/>
          </a:ln>
        </p:spPr>
      </p:pic>
      <p:sp>
        <p:nvSpPr>
          <p:cNvPr id="254" name="Google Shape;254;p11"/>
          <p:cNvSpPr txBox="1"/>
          <p:nvPr/>
        </p:nvSpPr>
        <p:spPr>
          <a:xfrm>
            <a:off x="3566160" y="224028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2000"/>
              <a:buFont typeface="Arial"/>
              <a:buNone/>
            </a:pPr>
            <a:r>
              <a:rPr b="1" i="0" lang="en-US" sz="2000" u="none" cap="none" strike="noStrike">
                <a:solidFill>
                  <a:srgbClr val="15171A"/>
                </a:solidFill>
                <a:latin typeface="Arial"/>
                <a:ea typeface="Arial"/>
                <a:cs typeface="Arial"/>
                <a:sym typeface="Arial"/>
              </a:rPr>
              <a:t>Ufficio pass</a:t>
            </a:r>
            <a:endParaRPr b="0" i="0" sz="2000" u="none" cap="none" strike="noStrike">
              <a:solidFill>
                <a:schemeClr val="dk1"/>
              </a:solidFill>
              <a:latin typeface="Calibri"/>
              <a:ea typeface="Calibri"/>
              <a:cs typeface="Calibri"/>
              <a:sym typeface="Calibri"/>
            </a:endParaRPr>
          </a:p>
        </p:txBody>
      </p:sp>
      <p:sp>
        <p:nvSpPr>
          <p:cNvPr id="255" name="Google Shape;255;p11"/>
          <p:cNvSpPr txBox="1"/>
          <p:nvPr/>
        </p:nvSpPr>
        <p:spPr>
          <a:xfrm>
            <a:off x="3566160" y="2697480"/>
            <a:ext cx="210312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400"/>
              <a:buFont typeface="Arial"/>
              <a:buNone/>
            </a:pPr>
            <a:r>
              <a:rPr b="0" i="0" lang="en-US" sz="1400" u="none" cap="none" strike="noStrike">
                <a:solidFill>
                  <a:srgbClr val="15171A"/>
                </a:solidFill>
                <a:latin typeface="Arial"/>
                <a:ea typeface="Arial"/>
                <a:cs typeface="Arial"/>
                <a:sym typeface="Arial"/>
              </a:rPr>
              <a:t>Meno richieste di integrazione</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5171A"/>
              </a:buClr>
              <a:buSzPts val="600"/>
              <a:buFont typeface="Arial"/>
              <a:buNone/>
            </a:pPr>
            <a:r>
              <a:rPr b="0" i="0" lang="en-US" sz="600" u="none" cap="none" strike="noStrike">
                <a:solidFill>
                  <a:srgbClr val="15171A"/>
                </a:solidFill>
                <a:latin typeface="Arial"/>
                <a:ea typeface="Arial"/>
                <a:cs typeface="Arial"/>
                <a:sym typeface="Arial"/>
              </a:rPr>
              <a:t>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5171A"/>
              </a:buClr>
              <a:buSzPts val="1400"/>
              <a:buFont typeface="Arial"/>
              <a:buNone/>
            </a:pPr>
            <a:r>
              <a:rPr b="0" i="0" lang="en-US" sz="1400" u="none" cap="none" strike="noStrike">
                <a:solidFill>
                  <a:srgbClr val="15171A"/>
                </a:solidFill>
                <a:latin typeface="Arial"/>
                <a:ea typeface="Arial"/>
                <a:cs typeface="Arial"/>
                <a:sym typeface="Arial"/>
              </a:rPr>
              <a:t>Controlli già fatti, con le fonti</a:t>
            </a:r>
            <a:endParaRPr b="0" i="0" sz="1400" u="none" cap="none" strike="noStrike">
              <a:solidFill>
                <a:schemeClr val="dk1"/>
              </a:solidFill>
              <a:latin typeface="Calibri"/>
              <a:ea typeface="Calibri"/>
              <a:cs typeface="Calibri"/>
              <a:sym typeface="Calibri"/>
            </a:endParaRPr>
          </a:p>
        </p:txBody>
      </p:sp>
      <p:sp>
        <p:nvSpPr>
          <p:cNvPr id="256" name="Google Shape;256;p11"/>
          <p:cNvSpPr/>
          <p:nvPr/>
        </p:nvSpPr>
        <p:spPr>
          <a:xfrm>
            <a:off x="6035040" y="1234440"/>
            <a:ext cx="2560320" cy="2514600"/>
          </a:xfrm>
          <a:prstGeom prst="roundRect">
            <a:avLst>
              <a:gd fmla="val 4364" name="adj"/>
            </a:avLst>
          </a:prstGeom>
          <a:solidFill>
            <a:schemeClr val="lt1"/>
          </a:solidFill>
          <a:ln cap="flat" cmpd="sng" w="12700">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6309360" y="1463040"/>
            <a:ext cx="594360" cy="59436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8" name="Google Shape;258;p11"/>
          <p:cNvPicPr preferRelativeResize="0"/>
          <p:nvPr/>
        </p:nvPicPr>
        <p:blipFill rotWithShape="1">
          <a:blip r:embed="rId5">
            <a:alphaModFix/>
          </a:blip>
          <a:srcRect b="0" l="0" r="0" t="0"/>
          <a:stretch/>
        </p:blipFill>
        <p:spPr>
          <a:xfrm>
            <a:off x="6463894" y="1617574"/>
            <a:ext cx="285293" cy="285293"/>
          </a:xfrm>
          <a:prstGeom prst="rect">
            <a:avLst/>
          </a:prstGeom>
          <a:noFill/>
          <a:ln>
            <a:noFill/>
          </a:ln>
        </p:spPr>
      </p:pic>
      <p:sp>
        <p:nvSpPr>
          <p:cNvPr id="259" name="Google Shape;259;p11"/>
          <p:cNvSpPr txBox="1"/>
          <p:nvPr/>
        </p:nvSpPr>
        <p:spPr>
          <a:xfrm>
            <a:off x="6309360" y="224028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2000"/>
              <a:buFont typeface="Arial"/>
              <a:buNone/>
            </a:pPr>
            <a:r>
              <a:rPr b="1" i="0" lang="en-US" sz="2000" u="none" cap="none" strike="noStrike">
                <a:solidFill>
                  <a:srgbClr val="15171A"/>
                </a:solidFill>
                <a:latin typeface="Arial"/>
                <a:ea typeface="Arial"/>
                <a:cs typeface="Arial"/>
                <a:sym typeface="Arial"/>
              </a:rPr>
              <a:t>Comune</a:t>
            </a:r>
            <a:endParaRPr b="0" i="0" sz="2000" u="none" cap="none" strike="noStrike">
              <a:solidFill>
                <a:schemeClr val="dk1"/>
              </a:solidFill>
              <a:latin typeface="Calibri"/>
              <a:ea typeface="Calibri"/>
              <a:cs typeface="Calibri"/>
              <a:sym typeface="Calibri"/>
            </a:endParaRPr>
          </a:p>
        </p:txBody>
      </p:sp>
      <p:sp>
        <p:nvSpPr>
          <p:cNvPr id="260" name="Google Shape;260;p11"/>
          <p:cNvSpPr txBox="1"/>
          <p:nvPr/>
        </p:nvSpPr>
        <p:spPr>
          <a:xfrm>
            <a:off x="6309360" y="2697480"/>
            <a:ext cx="210312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1400"/>
              <a:buFont typeface="Arial"/>
              <a:buNone/>
            </a:pPr>
            <a:r>
              <a:rPr b="0" i="0" lang="en-US" sz="1400" u="none" cap="none" strike="noStrike">
                <a:solidFill>
                  <a:srgbClr val="15171A"/>
                </a:solidFill>
                <a:latin typeface="Arial"/>
                <a:ea typeface="Arial"/>
                <a:cs typeface="Arial"/>
                <a:sym typeface="Arial"/>
              </a:rPr>
              <a:t>Città proattiva, accesso unico</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5171A"/>
              </a:buClr>
              <a:buSzPts val="600"/>
              <a:buFont typeface="Arial"/>
              <a:buNone/>
            </a:pPr>
            <a:r>
              <a:rPr b="0" i="0" lang="en-US" sz="600" u="none" cap="none" strike="noStrike">
                <a:solidFill>
                  <a:srgbClr val="15171A"/>
                </a:solidFill>
                <a:latin typeface="Arial"/>
                <a:ea typeface="Arial"/>
                <a:cs typeface="Arial"/>
                <a:sym typeface="Arial"/>
              </a:rPr>
              <a:t>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5171A"/>
              </a:buClr>
              <a:buSzPts val="1400"/>
              <a:buFont typeface="Arial"/>
              <a:buNone/>
            </a:pPr>
            <a:r>
              <a:rPr b="0" i="0" lang="en-US" sz="1400" u="none" cap="none" strike="noStrike">
                <a:solidFill>
                  <a:srgbClr val="15171A"/>
                </a:solidFill>
                <a:latin typeface="Arial"/>
                <a:ea typeface="Arial"/>
                <a:cs typeface="Arial"/>
                <a:sym typeface="Arial"/>
              </a:rPr>
              <a:t>Dati aperti e codice open source</a:t>
            </a:r>
            <a:endParaRPr b="0" i="0" sz="1400" u="none" cap="none" strike="noStrike">
              <a:solidFill>
                <a:schemeClr val="dk1"/>
              </a:solidFill>
              <a:latin typeface="Calibri"/>
              <a:ea typeface="Calibri"/>
              <a:cs typeface="Calibri"/>
              <a:sym typeface="Calibri"/>
            </a:endParaRPr>
          </a:p>
        </p:txBody>
      </p:sp>
      <p:sp>
        <p:nvSpPr>
          <p:cNvPr id="261" name="Google Shape;261;p11"/>
          <p:cNvSpPr/>
          <p:nvPr/>
        </p:nvSpPr>
        <p:spPr>
          <a:xfrm>
            <a:off x="548640" y="3977640"/>
            <a:ext cx="8046720" cy="685800"/>
          </a:xfrm>
          <a:prstGeom prst="roundRect">
            <a:avLst>
              <a:gd fmla="val 16000" name="adj"/>
            </a:avLst>
          </a:prstGeom>
          <a:solidFill>
            <a:srgbClr val="15171A"/>
          </a:solidFill>
          <a:ln cap="flat" cmpd="sng" w="12700">
            <a:solidFill>
              <a:srgbClr val="1517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731520" y="4087368"/>
            <a:ext cx="457200" cy="45720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3" name="Google Shape;263;p11"/>
          <p:cNvPicPr preferRelativeResize="0"/>
          <p:nvPr/>
        </p:nvPicPr>
        <p:blipFill rotWithShape="1">
          <a:blip r:embed="rId6">
            <a:alphaModFix/>
          </a:blip>
          <a:srcRect b="0" l="0" r="0" t="0"/>
          <a:stretch/>
        </p:blipFill>
        <p:spPr>
          <a:xfrm>
            <a:off x="850392" y="4206240"/>
            <a:ext cx="219456" cy="219456"/>
          </a:xfrm>
          <a:prstGeom prst="rect">
            <a:avLst/>
          </a:prstGeom>
          <a:noFill/>
          <a:ln>
            <a:noFill/>
          </a:ln>
        </p:spPr>
      </p:pic>
      <p:sp>
        <p:nvSpPr>
          <p:cNvPr id="264" name="Google Shape;264;p11"/>
          <p:cNvSpPr txBox="1"/>
          <p:nvPr/>
        </p:nvSpPr>
        <p:spPr>
          <a:xfrm>
            <a:off x="1371600" y="3977640"/>
            <a:ext cx="71323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Claude legge solo il documento sanitario  ·  non conserva nulla  ·  decide l'ufficio</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71A"/>
        </a:solidFill>
      </p:bgPr>
    </p:bg>
    <p:spTree>
      <p:nvGrpSpPr>
        <p:cNvPr id="269" name="Shape 269"/>
        <p:cNvGrpSpPr/>
        <p:nvPr/>
      </p:nvGrpSpPr>
      <p:grpSpPr>
        <a:xfrm>
          <a:off x="0" y="0"/>
          <a:ext cx="0" cy="0"/>
          <a:chOff x="0" y="0"/>
          <a:chExt cx="0" cy="0"/>
        </a:xfrm>
      </p:grpSpPr>
      <p:sp>
        <p:nvSpPr>
          <p:cNvPr id="270" name="Google Shape;270;p12"/>
          <p:cNvSpPr txBox="1"/>
          <p:nvPr/>
        </p:nvSpPr>
        <p:spPr>
          <a:xfrm>
            <a:off x="548640" y="384048"/>
            <a:ext cx="804672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Lo stesso motore per ogni procedura</a:t>
            </a:r>
            <a:endParaRPr b="0" i="0" sz="3000" u="none" cap="none" strike="noStrike">
              <a:solidFill>
                <a:schemeClr val="dk1"/>
              </a:solidFill>
              <a:latin typeface="Calibri"/>
              <a:ea typeface="Calibri"/>
              <a:cs typeface="Calibri"/>
              <a:sym typeface="Calibri"/>
            </a:endParaRPr>
          </a:p>
        </p:txBody>
      </p:sp>
      <p:cxnSp>
        <p:nvCxnSpPr>
          <p:cNvPr id="271" name="Google Shape;271;p12"/>
          <p:cNvCxnSpPr/>
          <p:nvPr/>
        </p:nvCxnSpPr>
        <p:spPr>
          <a:xfrm>
            <a:off x="3063240" y="1700784"/>
            <a:ext cx="640080" cy="1088136"/>
          </a:xfrm>
          <a:prstGeom prst="straightConnector1">
            <a:avLst/>
          </a:prstGeom>
          <a:noFill/>
          <a:ln cap="flat" cmpd="sng" w="19050">
            <a:solidFill>
              <a:srgbClr val="4B5160"/>
            </a:solidFill>
            <a:prstDash val="solid"/>
            <a:round/>
            <a:headEnd len="sm" w="sm" type="none"/>
            <a:tailEnd len="sm" w="sm" type="none"/>
          </a:ln>
        </p:spPr>
      </p:cxnSp>
      <p:cxnSp>
        <p:nvCxnSpPr>
          <p:cNvPr id="272" name="Google Shape;272;p12"/>
          <p:cNvCxnSpPr/>
          <p:nvPr/>
        </p:nvCxnSpPr>
        <p:spPr>
          <a:xfrm flipH="1" rot="10800000">
            <a:off x="5440680" y="1700784"/>
            <a:ext cx="640080" cy="1088136"/>
          </a:xfrm>
          <a:prstGeom prst="straightConnector1">
            <a:avLst/>
          </a:prstGeom>
          <a:noFill/>
          <a:ln cap="flat" cmpd="sng" w="19050">
            <a:solidFill>
              <a:srgbClr val="4B5160"/>
            </a:solidFill>
            <a:prstDash val="solid"/>
            <a:round/>
            <a:headEnd len="sm" w="sm" type="none"/>
            <a:tailEnd len="sm" w="sm" type="none"/>
          </a:ln>
        </p:spPr>
      </p:cxnSp>
      <p:sp>
        <p:nvSpPr>
          <p:cNvPr id="273" name="Google Shape;273;p12"/>
          <p:cNvSpPr/>
          <p:nvPr/>
        </p:nvSpPr>
        <p:spPr>
          <a:xfrm>
            <a:off x="548640" y="1417320"/>
            <a:ext cx="2514600" cy="566928"/>
          </a:xfrm>
          <a:prstGeom prst="roundRect">
            <a:avLst>
              <a:gd fmla="val 50000" name="adj"/>
            </a:avLst>
          </a:prstGeom>
          <a:solidFill>
            <a:srgbClr val="262A30"/>
          </a:solidFill>
          <a:ln cap="flat" cmpd="sng" w="12700">
            <a:solidFill>
              <a:srgbClr val="3B4048"/>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Residenza dall'estero</a:t>
            </a:r>
            <a:endParaRPr b="0" i="0" sz="1500" u="none" cap="none" strike="noStrike">
              <a:solidFill>
                <a:schemeClr val="dk1"/>
              </a:solidFill>
              <a:latin typeface="Calibri"/>
              <a:ea typeface="Calibri"/>
              <a:cs typeface="Calibri"/>
              <a:sym typeface="Calibri"/>
            </a:endParaRPr>
          </a:p>
        </p:txBody>
      </p:sp>
      <p:sp>
        <p:nvSpPr>
          <p:cNvPr id="274" name="Google Shape;274;p12"/>
          <p:cNvSpPr/>
          <p:nvPr/>
        </p:nvSpPr>
        <p:spPr>
          <a:xfrm>
            <a:off x="6080760" y="1417320"/>
            <a:ext cx="2514600" cy="566928"/>
          </a:xfrm>
          <a:prstGeom prst="roundRect">
            <a:avLst>
              <a:gd fmla="val 50000" name="adj"/>
            </a:avLst>
          </a:prstGeom>
          <a:solidFill>
            <a:srgbClr val="262A30"/>
          </a:solidFill>
          <a:ln cap="flat" cmpd="sng" w="12700">
            <a:solidFill>
              <a:srgbClr val="3B4048"/>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Area di sosta personale</a:t>
            </a:r>
            <a:endParaRPr b="0" i="0" sz="1500" u="none" cap="none" strike="noStrike">
              <a:solidFill>
                <a:schemeClr val="dk1"/>
              </a:solidFill>
              <a:latin typeface="Calibri"/>
              <a:ea typeface="Calibri"/>
              <a:cs typeface="Calibri"/>
              <a:sym typeface="Calibri"/>
            </a:endParaRPr>
          </a:p>
        </p:txBody>
      </p:sp>
      <p:cxnSp>
        <p:nvCxnSpPr>
          <p:cNvPr id="275" name="Google Shape;275;p12"/>
          <p:cNvCxnSpPr/>
          <p:nvPr/>
        </p:nvCxnSpPr>
        <p:spPr>
          <a:xfrm flipH="1" rot="10800000">
            <a:off x="3063240" y="2788920"/>
            <a:ext cx="640080" cy="9144"/>
          </a:xfrm>
          <a:prstGeom prst="straightConnector1">
            <a:avLst/>
          </a:prstGeom>
          <a:noFill/>
          <a:ln cap="flat" cmpd="sng" w="19050">
            <a:solidFill>
              <a:srgbClr val="4B5160"/>
            </a:solidFill>
            <a:prstDash val="solid"/>
            <a:round/>
            <a:headEnd len="sm" w="sm" type="none"/>
            <a:tailEnd len="sm" w="sm" type="none"/>
          </a:ln>
        </p:spPr>
      </p:cxnSp>
      <p:cxnSp>
        <p:nvCxnSpPr>
          <p:cNvPr id="276" name="Google Shape;276;p12"/>
          <p:cNvCxnSpPr/>
          <p:nvPr/>
        </p:nvCxnSpPr>
        <p:spPr>
          <a:xfrm>
            <a:off x="5440680" y="2788920"/>
            <a:ext cx="640080" cy="9144"/>
          </a:xfrm>
          <a:prstGeom prst="straightConnector1">
            <a:avLst/>
          </a:prstGeom>
          <a:noFill/>
          <a:ln cap="flat" cmpd="sng" w="19050">
            <a:solidFill>
              <a:srgbClr val="4B5160"/>
            </a:solidFill>
            <a:prstDash val="solid"/>
            <a:round/>
            <a:headEnd len="sm" w="sm" type="none"/>
            <a:tailEnd len="sm" w="sm" type="none"/>
          </a:ln>
        </p:spPr>
      </p:cxnSp>
      <p:sp>
        <p:nvSpPr>
          <p:cNvPr id="277" name="Google Shape;277;p12"/>
          <p:cNvSpPr/>
          <p:nvPr/>
        </p:nvSpPr>
        <p:spPr>
          <a:xfrm>
            <a:off x="548640" y="2514600"/>
            <a:ext cx="2514600" cy="566928"/>
          </a:xfrm>
          <a:prstGeom prst="roundRect">
            <a:avLst>
              <a:gd fmla="val 50000" name="adj"/>
            </a:avLst>
          </a:prstGeom>
          <a:solidFill>
            <a:srgbClr val="262A30"/>
          </a:solidFill>
          <a:ln cap="flat" cmpd="sng" w="12700">
            <a:solidFill>
              <a:srgbClr val="3B4048"/>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Pass sosta residenti</a:t>
            </a:r>
            <a:endParaRPr b="0" i="0" sz="1500" u="none" cap="none" strike="noStrike">
              <a:solidFill>
                <a:schemeClr val="dk1"/>
              </a:solidFill>
              <a:latin typeface="Calibri"/>
              <a:ea typeface="Calibri"/>
              <a:cs typeface="Calibri"/>
              <a:sym typeface="Calibri"/>
            </a:endParaRPr>
          </a:p>
        </p:txBody>
      </p:sp>
      <p:sp>
        <p:nvSpPr>
          <p:cNvPr id="278" name="Google Shape;278;p12"/>
          <p:cNvSpPr/>
          <p:nvPr/>
        </p:nvSpPr>
        <p:spPr>
          <a:xfrm>
            <a:off x="6080760" y="2514600"/>
            <a:ext cx="2514600" cy="566928"/>
          </a:xfrm>
          <a:prstGeom prst="roundRect">
            <a:avLst>
              <a:gd fmla="val 50000" name="adj"/>
            </a:avLst>
          </a:prstGeom>
          <a:solidFill>
            <a:srgbClr val="262A30"/>
          </a:solidFill>
          <a:ln cap="flat" cmpd="sng" w="12700">
            <a:solidFill>
              <a:srgbClr val="3B4048"/>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Dichiarazione TARI</a:t>
            </a:r>
            <a:endParaRPr b="0" i="0" sz="1500" u="none" cap="none" strike="noStrike">
              <a:solidFill>
                <a:schemeClr val="dk1"/>
              </a:solidFill>
              <a:latin typeface="Calibri"/>
              <a:ea typeface="Calibri"/>
              <a:cs typeface="Calibri"/>
              <a:sym typeface="Calibri"/>
            </a:endParaRPr>
          </a:p>
        </p:txBody>
      </p:sp>
      <p:cxnSp>
        <p:nvCxnSpPr>
          <p:cNvPr id="279" name="Google Shape;279;p12"/>
          <p:cNvCxnSpPr/>
          <p:nvPr/>
        </p:nvCxnSpPr>
        <p:spPr>
          <a:xfrm flipH="1" rot="10800000">
            <a:off x="3063240" y="2788920"/>
            <a:ext cx="640080" cy="1106424"/>
          </a:xfrm>
          <a:prstGeom prst="straightConnector1">
            <a:avLst/>
          </a:prstGeom>
          <a:noFill/>
          <a:ln cap="flat" cmpd="sng" w="19050">
            <a:solidFill>
              <a:srgbClr val="4B5160"/>
            </a:solidFill>
            <a:prstDash val="solid"/>
            <a:round/>
            <a:headEnd len="sm" w="sm" type="none"/>
            <a:tailEnd len="sm" w="sm" type="none"/>
          </a:ln>
        </p:spPr>
      </p:cxnSp>
      <p:cxnSp>
        <p:nvCxnSpPr>
          <p:cNvPr id="280" name="Google Shape;280;p12"/>
          <p:cNvCxnSpPr/>
          <p:nvPr/>
        </p:nvCxnSpPr>
        <p:spPr>
          <a:xfrm>
            <a:off x="5440680" y="2788920"/>
            <a:ext cx="640080" cy="1106424"/>
          </a:xfrm>
          <a:prstGeom prst="straightConnector1">
            <a:avLst/>
          </a:prstGeom>
          <a:noFill/>
          <a:ln cap="flat" cmpd="sng" w="19050">
            <a:solidFill>
              <a:srgbClr val="4B5160"/>
            </a:solidFill>
            <a:prstDash val="solid"/>
            <a:round/>
            <a:headEnd len="sm" w="sm" type="none"/>
            <a:tailEnd len="sm" w="sm" type="none"/>
          </a:ln>
        </p:spPr>
      </p:cxnSp>
      <p:sp>
        <p:nvSpPr>
          <p:cNvPr id="281" name="Google Shape;281;p12"/>
          <p:cNvSpPr/>
          <p:nvPr/>
        </p:nvSpPr>
        <p:spPr>
          <a:xfrm>
            <a:off x="548640" y="3611880"/>
            <a:ext cx="2514600" cy="566928"/>
          </a:xfrm>
          <a:prstGeom prst="roundRect">
            <a:avLst>
              <a:gd fmla="val 50000" name="adj"/>
            </a:avLst>
          </a:prstGeom>
          <a:solidFill>
            <a:srgbClr val="262A30"/>
          </a:solidFill>
          <a:ln cap="flat" cmpd="sng" w="12700">
            <a:solidFill>
              <a:srgbClr val="3B4048"/>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Contributo barriere</a:t>
            </a:r>
            <a:endParaRPr b="0" i="0" sz="1500" u="none" cap="none" strike="noStrike">
              <a:solidFill>
                <a:schemeClr val="dk1"/>
              </a:solidFill>
              <a:latin typeface="Calibri"/>
              <a:ea typeface="Calibri"/>
              <a:cs typeface="Calibri"/>
              <a:sym typeface="Calibri"/>
            </a:endParaRPr>
          </a:p>
        </p:txBody>
      </p:sp>
      <p:sp>
        <p:nvSpPr>
          <p:cNvPr id="282" name="Google Shape;282;p12"/>
          <p:cNvSpPr/>
          <p:nvPr/>
        </p:nvSpPr>
        <p:spPr>
          <a:xfrm>
            <a:off x="6080760" y="3611880"/>
            <a:ext cx="2514600" cy="566928"/>
          </a:xfrm>
          <a:prstGeom prst="roundRect">
            <a:avLst>
              <a:gd fmla="val 50000" name="adj"/>
            </a:avLst>
          </a:prstGeom>
          <a:solidFill>
            <a:srgbClr val="262A30"/>
          </a:solidFill>
          <a:ln cap="flat" cmpd="sng" w="12700">
            <a:solidFill>
              <a:srgbClr val="3B4048"/>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Carta d'identità a casa</a:t>
            </a:r>
            <a:endParaRPr b="0" i="0" sz="1500" u="none" cap="none" strike="noStrike">
              <a:solidFill>
                <a:schemeClr val="dk1"/>
              </a:solidFill>
              <a:latin typeface="Calibri"/>
              <a:ea typeface="Calibri"/>
              <a:cs typeface="Calibri"/>
              <a:sym typeface="Calibri"/>
            </a:endParaRPr>
          </a:p>
        </p:txBody>
      </p:sp>
      <p:sp>
        <p:nvSpPr>
          <p:cNvPr id="283" name="Google Shape;283;p12"/>
          <p:cNvSpPr/>
          <p:nvPr/>
        </p:nvSpPr>
        <p:spPr>
          <a:xfrm>
            <a:off x="3703320" y="1920240"/>
            <a:ext cx="1737360" cy="173736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2"/>
          <p:cNvSpPr txBox="1"/>
          <p:nvPr/>
        </p:nvSpPr>
        <p:spPr>
          <a:xfrm>
            <a:off x="3703320" y="1920240"/>
            <a:ext cx="1737360" cy="1737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Pass disabili</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il primo caso</a:t>
            </a:r>
            <a:endParaRPr b="0" i="0" sz="1700" u="none" cap="none" strike="noStrike">
              <a:solidFill>
                <a:schemeClr val="dk1"/>
              </a:solidFill>
              <a:latin typeface="Calibri"/>
              <a:ea typeface="Calibri"/>
              <a:cs typeface="Calibri"/>
              <a:sym typeface="Calibri"/>
            </a:endParaRPr>
          </a:p>
        </p:txBody>
      </p:sp>
      <p:sp>
        <p:nvSpPr>
          <p:cNvPr id="285" name="Google Shape;285;p12"/>
          <p:cNvSpPr txBox="1"/>
          <p:nvPr/>
        </p:nvSpPr>
        <p:spPr>
          <a:xfrm>
            <a:off x="548640" y="4736592"/>
            <a:ext cx="8046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CA3AF"/>
              </a:buClr>
              <a:buSzPts val="1000"/>
              <a:buFont typeface="Arial"/>
              <a:buNone/>
            </a:pPr>
            <a:r>
              <a:rPr b="0" i="0" lang="en-US" sz="1000" u="none" cap="none" strike="noStrike">
                <a:solidFill>
                  <a:srgbClr val="9CA3AF"/>
                </a:solidFill>
                <a:latin typeface="Arial"/>
                <a:ea typeface="Arial"/>
                <a:cs typeface="Arial"/>
                <a:sym typeface="Arial"/>
              </a:rPr>
              <a:t>Per un nuovo servizio cambiano solo le regole. Il Comune elenca circa 444 procedimenti amministrativi.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CD8"/>
        </a:solidFill>
      </p:bgPr>
    </p:bg>
    <p:spTree>
      <p:nvGrpSpPr>
        <p:cNvPr id="290" name="Shape 290"/>
        <p:cNvGrpSpPr/>
        <p:nvPr/>
      </p:nvGrpSpPr>
      <p:grpSpPr>
        <a:xfrm>
          <a:off x="0" y="0"/>
          <a:ext cx="0" cy="0"/>
          <a:chOff x="0" y="0"/>
          <a:chExt cx="0" cy="0"/>
        </a:xfrm>
      </p:grpSpPr>
      <p:sp>
        <p:nvSpPr>
          <p:cNvPr id="291" name="Google Shape;291;p13"/>
          <p:cNvSpPr txBox="1"/>
          <p:nvPr/>
        </p:nvSpPr>
        <p:spPr>
          <a:xfrm>
            <a:off x="548640" y="384048"/>
            <a:ext cx="804672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71A"/>
              </a:buClr>
              <a:buSzPts val="3000"/>
              <a:buFont typeface="Arial"/>
              <a:buNone/>
            </a:pPr>
            <a:r>
              <a:rPr b="1" i="0" lang="en-US" sz="3000" u="none" cap="none" strike="noStrike">
                <a:solidFill>
                  <a:srgbClr val="15171A"/>
                </a:solidFill>
                <a:latin typeface="Arial"/>
                <a:ea typeface="Arial"/>
                <a:cs typeface="Arial"/>
                <a:sym typeface="Arial"/>
              </a:rPr>
              <a:t>Tre passi, senza rifare il modulo</a:t>
            </a:r>
            <a:endParaRPr b="0" i="0" sz="3000" u="none" cap="none" strike="noStrike">
              <a:solidFill>
                <a:schemeClr val="dk1"/>
              </a:solidFill>
              <a:latin typeface="Calibri"/>
              <a:ea typeface="Calibri"/>
              <a:cs typeface="Calibri"/>
              <a:sym typeface="Calibri"/>
            </a:endParaRPr>
          </a:p>
        </p:txBody>
      </p:sp>
      <p:cxnSp>
        <p:nvCxnSpPr>
          <p:cNvPr id="292" name="Google Shape;292;p13"/>
          <p:cNvCxnSpPr/>
          <p:nvPr/>
        </p:nvCxnSpPr>
        <p:spPr>
          <a:xfrm>
            <a:off x="1737360" y="1783080"/>
            <a:ext cx="5669280" cy="0"/>
          </a:xfrm>
          <a:prstGeom prst="straightConnector1">
            <a:avLst/>
          </a:prstGeom>
          <a:noFill/>
          <a:ln cap="flat" cmpd="sng" w="25400">
            <a:solidFill>
              <a:srgbClr val="D1D5DB"/>
            </a:solidFill>
            <a:prstDash val="solid"/>
            <a:round/>
            <a:headEnd len="sm" w="sm" type="none"/>
            <a:tailEnd len="sm" w="sm" type="none"/>
          </a:ln>
        </p:spPr>
      </p:cxnSp>
      <p:sp>
        <p:nvSpPr>
          <p:cNvPr id="293" name="Google Shape;293;p13"/>
          <p:cNvSpPr/>
          <p:nvPr/>
        </p:nvSpPr>
        <p:spPr>
          <a:xfrm>
            <a:off x="1371600" y="1417320"/>
            <a:ext cx="731520" cy="73152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4" name="Google Shape;294;p13"/>
          <p:cNvPicPr preferRelativeResize="0"/>
          <p:nvPr/>
        </p:nvPicPr>
        <p:blipFill rotWithShape="1">
          <a:blip r:embed="rId3">
            <a:alphaModFix/>
          </a:blip>
          <a:srcRect b="0" l="0" r="0" t="0"/>
          <a:stretch/>
        </p:blipFill>
        <p:spPr>
          <a:xfrm>
            <a:off x="1561795" y="1607515"/>
            <a:ext cx="351130" cy="351130"/>
          </a:xfrm>
          <a:prstGeom prst="rect">
            <a:avLst/>
          </a:prstGeom>
          <a:noFill/>
          <a:ln>
            <a:noFill/>
          </a:ln>
        </p:spPr>
      </p:pic>
      <p:sp>
        <p:nvSpPr>
          <p:cNvPr id="295" name="Google Shape;295;p13"/>
          <p:cNvSpPr txBox="1"/>
          <p:nvPr/>
        </p:nvSpPr>
        <p:spPr>
          <a:xfrm>
            <a:off x="457200" y="2331720"/>
            <a:ext cx="256032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171A"/>
              </a:buClr>
              <a:buSzPts val="2000"/>
              <a:buFont typeface="Arial"/>
              <a:buNone/>
            </a:pPr>
            <a:r>
              <a:rPr b="1" i="0" lang="en-US" sz="2000" u="none" cap="none" strike="noStrike">
                <a:solidFill>
                  <a:srgbClr val="15171A"/>
                </a:solidFill>
                <a:latin typeface="Arial"/>
                <a:ea typeface="Arial"/>
                <a:cs typeface="Arial"/>
                <a:sym typeface="Arial"/>
              </a:rPr>
              <a:t>Oggi</a:t>
            </a:r>
            <a:endParaRPr b="0" i="0" sz="2000" u="none" cap="none" strike="noStrike">
              <a:solidFill>
                <a:schemeClr val="dk1"/>
              </a:solidFill>
              <a:latin typeface="Calibri"/>
              <a:ea typeface="Calibri"/>
              <a:cs typeface="Calibri"/>
              <a:sym typeface="Calibri"/>
            </a:endParaRPr>
          </a:p>
        </p:txBody>
      </p:sp>
      <p:sp>
        <p:nvSpPr>
          <p:cNvPr id="296" name="Google Shape;296;p13"/>
          <p:cNvSpPr txBox="1"/>
          <p:nvPr/>
        </p:nvSpPr>
        <p:spPr>
          <a:xfrm>
            <a:off x="457200" y="2743200"/>
            <a:ext cx="256032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Dati aperti e modulo esistente</a:t>
            </a:r>
            <a:endParaRPr b="0" i="0" sz="1400" u="none" cap="none" strike="noStrike">
              <a:solidFill>
                <a:schemeClr val="dk1"/>
              </a:solidFill>
              <a:latin typeface="Calibri"/>
              <a:ea typeface="Calibri"/>
              <a:cs typeface="Calibri"/>
              <a:sym typeface="Calibri"/>
            </a:endParaRPr>
          </a:p>
        </p:txBody>
      </p:sp>
      <p:sp>
        <p:nvSpPr>
          <p:cNvPr id="297" name="Google Shape;297;p13"/>
          <p:cNvSpPr/>
          <p:nvPr/>
        </p:nvSpPr>
        <p:spPr>
          <a:xfrm>
            <a:off x="4206240" y="1417320"/>
            <a:ext cx="731520" cy="73152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8" name="Google Shape;298;p13"/>
          <p:cNvPicPr preferRelativeResize="0"/>
          <p:nvPr/>
        </p:nvPicPr>
        <p:blipFill rotWithShape="1">
          <a:blip r:embed="rId4">
            <a:alphaModFix/>
          </a:blip>
          <a:srcRect b="0" l="0" r="0" t="0"/>
          <a:stretch/>
        </p:blipFill>
        <p:spPr>
          <a:xfrm>
            <a:off x="4396435" y="1607515"/>
            <a:ext cx="351130" cy="351130"/>
          </a:xfrm>
          <a:prstGeom prst="rect">
            <a:avLst/>
          </a:prstGeom>
          <a:noFill/>
          <a:ln>
            <a:noFill/>
          </a:ln>
        </p:spPr>
      </p:pic>
      <p:sp>
        <p:nvSpPr>
          <p:cNvPr id="299" name="Google Shape;299;p13"/>
          <p:cNvSpPr txBox="1"/>
          <p:nvPr/>
        </p:nvSpPr>
        <p:spPr>
          <a:xfrm>
            <a:off x="3291840" y="2331720"/>
            <a:ext cx="256032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171A"/>
              </a:buClr>
              <a:buSzPts val="2000"/>
              <a:buFont typeface="Arial"/>
              <a:buNone/>
            </a:pPr>
            <a:r>
              <a:rPr b="1" i="0" lang="en-US" sz="2000" u="none" cap="none" strike="noStrike">
                <a:solidFill>
                  <a:srgbClr val="15171A"/>
                </a:solidFill>
                <a:latin typeface="Arial"/>
                <a:ea typeface="Arial"/>
                <a:cs typeface="Arial"/>
                <a:sym typeface="Arial"/>
              </a:rPr>
              <a:t>Pilota</a:t>
            </a:r>
            <a:endParaRPr b="0" i="0" sz="2000" u="none" cap="none" strike="noStrike">
              <a:solidFill>
                <a:schemeClr val="dk1"/>
              </a:solidFill>
              <a:latin typeface="Calibri"/>
              <a:ea typeface="Calibri"/>
              <a:cs typeface="Calibri"/>
              <a:sym typeface="Calibri"/>
            </a:endParaRPr>
          </a:p>
        </p:txBody>
      </p:sp>
      <p:sp>
        <p:nvSpPr>
          <p:cNvPr id="300" name="Google Shape;300;p13"/>
          <p:cNvSpPr txBox="1"/>
          <p:nvPr/>
        </p:nvSpPr>
        <p:spPr>
          <a:xfrm>
            <a:off x="3291840" y="2743200"/>
            <a:ext cx="256032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Link dal sito del Comune, SPID già in uso</a:t>
            </a:r>
            <a:endParaRPr b="0" i="0" sz="1400" u="none" cap="none" strike="noStrike">
              <a:solidFill>
                <a:schemeClr val="dk1"/>
              </a:solidFill>
              <a:latin typeface="Calibri"/>
              <a:ea typeface="Calibri"/>
              <a:cs typeface="Calibri"/>
              <a:sym typeface="Calibri"/>
            </a:endParaRPr>
          </a:p>
        </p:txBody>
      </p:sp>
      <p:sp>
        <p:nvSpPr>
          <p:cNvPr id="301" name="Google Shape;301;p13"/>
          <p:cNvSpPr/>
          <p:nvPr/>
        </p:nvSpPr>
        <p:spPr>
          <a:xfrm>
            <a:off x="7040880" y="1417320"/>
            <a:ext cx="731520" cy="731520"/>
          </a:xfrm>
          <a:prstGeom prst="ellipse">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2" name="Google Shape;302;p13"/>
          <p:cNvPicPr preferRelativeResize="0"/>
          <p:nvPr/>
        </p:nvPicPr>
        <p:blipFill rotWithShape="1">
          <a:blip r:embed="rId5">
            <a:alphaModFix/>
          </a:blip>
          <a:srcRect b="0" l="0" r="0" t="0"/>
          <a:stretch/>
        </p:blipFill>
        <p:spPr>
          <a:xfrm>
            <a:off x="7231075" y="1607515"/>
            <a:ext cx="351130" cy="351130"/>
          </a:xfrm>
          <a:prstGeom prst="rect">
            <a:avLst/>
          </a:prstGeom>
          <a:noFill/>
          <a:ln>
            <a:noFill/>
          </a:ln>
        </p:spPr>
      </p:pic>
      <p:sp>
        <p:nvSpPr>
          <p:cNvPr id="303" name="Google Shape;303;p13"/>
          <p:cNvSpPr txBox="1"/>
          <p:nvPr/>
        </p:nvSpPr>
        <p:spPr>
          <a:xfrm>
            <a:off x="6126480" y="2331720"/>
            <a:ext cx="256032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171A"/>
              </a:buClr>
              <a:buSzPts val="2000"/>
              <a:buFont typeface="Arial"/>
              <a:buNone/>
            </a:pPr>
            <a:r>
              <a:rPr b="1" i="0" lang="en-US" sz="2000" u="none" cap="none" strike="noStrike">
                <a:solidFill>
                  <a:srgbClr val="15171A"/>
                </a:solidFill>
                <a:latin typeface="Arial"/>
                <a:ea typeface="Arial"/>
                <a:cs typeface="Arial"/>
                <a:sym typeface="Arial"/>
              </a:rPr>
              <a:t>Scala</a:t>
            </a:r>
            <a:endParaRPr b="0" i="0" sz="2000" u="none" cap="none" strike="noStrike">
              <a:solidFill>
                <a:schemeClr val="dk1"/>
              </a:solidFill>
              <a:latin typeface="Calibri"/>
              <a:ea typeface="Calibri"/>
              <a:cs typeface="Calibri"/>
              <a:sym typeface="Calibri"/>
            </a:endParaRPr>
          </a:p>
        </p:txBody>
      </p:sp>
      <p:sp>
        <p:nvSpPr>
          <p:cNvPr id="304" name="Google Shape;304;p13"/>
          <p:cNvSpPr txBox="1"/>
          <p:nvPr/>
        </p:nvSpPr>
        <p:spPr>
          <a:xfrm>
            <a:off x="6126480" y="2743200"/>
            <a:ext cx="256032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Altre procedure e stato della pratica</a:t>
            </a:r>
            <a:endParaRPr b="0" i="0" sz="1400" u="none" cap="none" strike="noStrike">
              <a:solidFill>
                <a:schemeClr val="dk1"/>
              </a:solidFill>
              <a:latin typeface="Calibri"/>
              <a:ea typeface="Calibri"/>
              <a:cs typeface="Calibri"/>
              <a:sym typeface="Calibri"/>
            </a:endParaRPr>
          </a:p>
        </p:txBody>
      </p:sp>
      <p:sp>
        <p:nvSpPr>
          <p:cNvPr id="305" name="Google Shape;305;p13"/>
          <p:cNvSpPr/>
          <p:nvPr/>
        </p:nvSpPr>
        <p:spPr>
          <a:xfrm>
            <a:off x="548640" y="3703320"/>
            <a:ext cx="8046720" cy="868680"/>
          </a:xfrm>
          <a:prstGeom prst="roundRect">
            <a:avLst>
              <a:gd fmla="val 12632" name="adj"/>
            </a:avLst>
          </a:prstGeom>
          <a:solidFill>
            <a:srgbClr val="A50E2B"/>
          </a:solidFill>
          <a:ln cap="flat" cmpd="sng" w="12700">
            <a:solidFill>
              <a:srgbClr val="A50E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txBox="1"/>
          <p:nvPr/>
        </p:nvSpPr>
        <p:spPr>
          <a:xfrm>
            <a:off x="822960" y="3703320"/>
            <a:ext cx="74980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Chiediamo un test con 20 cittadini e con l'ufficio pass</a:t>
            </a:r>
            <a:endParaRPr b="0" i="0" sz="2000" u="none" cap="none" strike="noStrike">
              <a:solidFill>
                <a:schemeClr val="dk1"/>
              </a:solidFill>
              <a:latin typeface="Calibri"/>
              <a:ea typeface="Calibri"/>
              <a:cs typeface="Calibri"/>
              <a:sym typeface="Calibri"/>
            </a:endParaRPr>
          </a:p>
        </p:txBody>
      </p:sp>
      <p:sp>
        <p:nvSpPr>
          <p:cNvPr id="307" name="Google Shape;307;p13"/>
          <p:cNvSpPr txBox="1"/>
          <p:nvPr/>
        </p:nvSpPr>
        <p:spPr>
          <a:xfrm>
            <a:off x="548640" y="4736592"/>
            <a:ext cx="8046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000"/>
              <a:buFont typeface="Arial"/>
              <a:buNone/>
            </a:pPr>
            <a:r>
              <a:rPr b="0" i="0" lang="en-US" sz="1000" u="none" cap="none" strike="noStrike">
                <a:solidFill>
                  <a:srgbClr val="6B7280"/>
                </a:solidFill>
                <a:latin typeface="Arial"/>
                <a:ea typeface="Arial"/>
                <a:cs typeface="Arial"/>
                <a:sym typeface="Arial"/>
              </a:rPr>
              <a:t>Codice open source: </a:t>
            </a:r>
            <a:r>
              <a:rPr lang="en-US" sz="1100" u="sng">
                <a:solidFill>
                  <a:srgbClr val="1155CC"/>
                </a:solidFill>
                <a:hlinkClick r:id="rId6">
                  <a:extLst>
                    <a:ext uri="{A12FA001-AC4F-418D-AE19-62706E023703}">
                      <ahyp:hlinkClr val="tx"/>
                    </a:ext>
                  </a:extLst>
                </a:hlinkClick>
              </a:rPr>
              <a:t>https://github.com/ricardoConsulenze/sportello-amico</a:t>
            </a:r>
            <a:r>
              <a:rPr lang="en-US" sz="1100">
                <a:solidFill>
                  <a:schemeClr val="dk1"/>
                </a:solidFill>
              </a:rPr>
              <a:t>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2026-10-03T13:01:56Z</dcterms:created>
  <dc:creator>Sportello Amico team</dc:creator>
</cp:coreProperties>
</file>